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604" r:id="rId3"/>
    <p:sldId id="682" r:id="rId4"/>
    <p:sldId id="686" r:id="rId5"/>
    <p:sldId id="669" r:id="rId6"/>
    <p:sldId id="687" r:id="rId7"/>
    <p:sldId id="692" r:id="rId8"/>
    <p:sldId id="688" r:id="rId9"/>
    <p:sldId id="691" r:id="rId10"/>
    <p:sldId id="690" r:id="rId11"/>
    <p:sldId id="689" r:id="rId12"/>
    <p:sldId id="603" r:id="rId13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CC3300"/>
    <a:srgbClr val="BFBFBF"/>
    <a:srgbClr val="FDE8BF"/>
    <a:srgbClr val="3988A1"/>
    <a:srgbClr val="0D0D0D"/>
    <a:srgbClr val="F9C5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3729" autoAdjust="0"/>
  </p:normalViewPr>
  <p:slideViewPr>
    <p:cSldViewPr>
      <p:cViewPr varScale="1">
        <p:scale>
          <a:sx n="77" d="100"/>
          <a:sy n="77" d="100"/>
        </p:scale>
        <p:origin x="92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60" y="422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080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A35B8F-D6B8-4B1A-BED5-DBBA10E46047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B4096-A3A2-4F30-BA97-9793FEF49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347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315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30"/>
            <a:ext cx="7772400" cy="1470025"/>
          </a:xfrm>
        </p:spPr>
        <p:txBody>
          <a:bodyPr>
            <a:normAutofit/>
          </a:bodyPr>
          <a:lstStyle>
            <a:lvl1pPr algn="r">
              <a:defRPr sz="3200">
                <a:latin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9644B-26F1-4A77-80B4-864CA05B8475}" type="datetime1">
              <a:rPr lang="ko-KR" altLang="en-US" smtClean="0"/>
              <a:t>2025-07-14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9412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>
                <a:latin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 sz="1600">
                <a:latin typeface="Calibri" panose="020F0502020204030204" pitchFamily="34" charset="0"/>
                <a:cs typeface="Times New Roman" panose="02020603050405020304" pitchFamily="18" charset="0"/>
              </a:defRPr>
            </a:lvl2pPr>
            <a:lvl3pPr>
              <a:defRPr sz="1400">
                <a:latin typeface="Calibri" panose="020F0502020204030204" pitchFamily="34" charset="0"/>
                <a:cs typeface="Times New Roman" panose="02020603050405020304" pitchFamily="18" charset="0"/>
              </a:defRPr>
            </a:lvl3pPr>
            <a:lvl4pPr>
              <a:defRPr sz="1200">
                <a:latin typeface="Calibri" panose="020F0502020204030204" pitchFamily="34" charset="0"/>
                <a:cs typeface="Times New Roman" panose="02020603050405020304" pitchFamily="18" charset="0"/>
              </a:defRPr>
            </a:lvl4pPr>
            <a:lvl5pPr>
              <a:defRPr sz="1100">
                <a:latin typeface="Calibri" panose="020F0502020204030204" pitchFamily="34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A0DF-1D7A-48E6-A273-4781B29FC3A2}" type="datetime1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56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2639C-9C54-4D59-B63B-6A40A62DDA1D}" type="datetime1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345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800-C452-4BB4-A29E-1C525AD1212C}" type="datetime1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40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33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696B-9AD2-44FF-BD2C-41BB452FE4A1}" type="datetime1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030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7C143-B4F5-4116-B5F3-D83AE60017C9}" type="datetime1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18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BDB4-7A29-41E6-A346-B23989C956FF}" type="datetime1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867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8" y="2730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8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B53D-6090-4BEC-A9F8-8A6C8FC86260}" type="datetime1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355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2BAD-40F7-494C-9C1B-FB21063E74DF}" type="datetime1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84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6FA3-784D-405C-B6FF-9C59F33B3B76}" type="datetime1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27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CA628-0F48-49DD-B493-CEE122CBE4E3}" type="datetime1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001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A4631-7260-4D4B-B3D4-7EB9234DBA31}" type="datetime1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>
          <a:xfrm>
            <a:off x="7452320" y="0"/>
            <a:ext cx="1691680" cy="1691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87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A4631-7260-4D4B-B3D4-7EB9234DBA31}" type="datetime1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2" descr="https://lh3.googleusercontent.com/7G5NeQaGWmu01aZuzBN_jiCGqCDE7K5O5eT9dAI2oTRIleTQ1ZvQStLFLybGdWJpsRLjc-ihlfhXlahZ-NP8vJHuH2PR9wRRX8KpZQxeld-u0W6Fuw=w1280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2073" y="121196"/>
            <a:ext cx="1468686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s://lh3.googleusercontent.com/HKTsDQnD5XDpENfjlrGI0oK4fnM6tz3yUgSN00wgKjgtsgfo32sBuriKTsuTV7vI8iKOmSGJaBZESUATbvat2CPWxBdpat2GxJ4xHApashfSLjrW-4s=w1280"/>
          <p:cNvPicPr>
            <a:picLocks noChangeAspect="1" noChangeArrowheads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42978" y="465791"/>
            <a:ext cx="593518" cy="23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267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400" b="1" kern="1200">
          <a:solidFill>
            <a:srgbClr val="0070C0"/>
          </a:solidFill>
          <a:latin typeface="Calibri" panose="020F0502020204030204" pitchFamily="34" charset="0"/>
          <a:ea typeface="Arial Unicode MS" panose="020B0604020202020204" pitchFamily="50" charset="-127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11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23528" y="2130430"/>
            <a:ext cx="8136904" cy="1470025"/>
          </a:xfrm>
        </p:spPr>
        <p:txBody>
          <a:bodyPr>
            <a:noAutofit/>
          </a:bodyPr>
          <a:lstStyle/>
          <a:p>
            <a:r>
              <a:rPr lang="en-US" altLang="ko-KR" sz="2800" dirty="0"/>
              <a:t>TETRIS</a:t>
            </a:r>
            <a:r>
              <a:rPr lang="ko-KR" altLang="en-US" sz="2800" dirty="0"/>
              <a:t> </a:t>
            </a:r>
            <a:r>
              <a:rPr lang="en-US" altLang="ko-KR" sz="2800" dirty="0"/>
              <a:t>(Python) P#3</a:t>
            </a:r>
            <a:br>
              <a:rPr lang="en-US" altLang="ko-KR" sz="2800" dirty="0"/>
            </a:br>
            <a:r>
              <a:rPr lang="en-US" altLang="ko-KR" sz="2000" dirty="0"/>
              <a:t>Progress Report 2025.07.15</a:t>
            </a:r>
            <a:endParaRPr lang="ko-KR" altLang="en-US" sz="20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67544" y="4437112"/>
            <a:ext cx="7992888" cy="1512168"/>
          </a:xfrm>
        </p:spPr>
        <p:txBody>
          <a:bodyPr>
            <a:normAutofit/>
          </a:bodyPr>
          <a:lstStyle/>
          <a:p>
            <a:r>
              <a:rPr lang="en-US" altLang="ko-KR" b="1" dirty="0" err="1">
                <a:solidFill>
                  <a:schemeClr val="tx1"/>
                </a:solidFill>
              </a:rPr>
              <a:t>ChanHyung</a:t>
            </a:r>
            <a:r>
              <a:rPr lang="en-US" altLang="ko-KR" b="1" dirty="0">
                <a:solidFill>
                  <a:schemeClr val="tx1"/>
                </a:solidFill>
              </a:rPr>
              <a:t> Kim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School of AI Convergence, SSU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9405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Outline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en-US" altLang="en-US" sz="2400" dirty="0"/>
              <a:t>V1 : </a:t>
            </a:r>
            <a:r>
              <a:rPr lang="en-US" altLang="ko-KR" sz="2400" dirty="0"/>
              <a:t>8 Handler Definitions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en-US" sz="2400" dirty="0"/>
              <a:t>V2 : </a:t>
            </a:r>
            <a:r>
              <a:rPr lang="en-US" altLang="ko-KR" sz="2400" dirty="0"/>
              <a:t>Tetris key Action</a:t>
            </a:r>
            <a:r>
              <a:rPr lang="ko-KR" altLang="en-US" sz="2400" dirty="0"/>
              <a:t> </a:t>
            </a:r>
            <a:r>
              <a:rPr lang="en-US" altLang="ko-KR" sz="2400" dirty="0"/>
              <a:t>Definitions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dirty="0" err="1"/>
              <a:t>Ctetris</a:t>
            </a:r>
            <a:r>
              <a:rPr lang="en-US" altLang="ko-KR" sz="2400" dirty="0"/>
              <a:t> class : inherits from the Tetris class 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610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E4E44-EA36-A6C2-D944-EBE45122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1. Implementation – V1(8</a:t>
            </a:r>
            <a:r>
              <a:rPr kumimoji="1" lang="ko-KR" altLang="en-US" dirty="0"/>
              <a:t>개의 </a:t>
            </a:r>
            <a:r>
              <a:rPr kumimoji="1" lang="en-US" altLang="ko-KR" dirty="0"/>
              <a:t>handler</a:t>
            </a:r>
            <a:r>
              <a:rPr kumimoji="1" lang="en-US" altLang="en-US" dirty="0"/>
              <a:t>)</a:t>
            </a:r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B8A6F3-2DA9-8D37-EE79-C0165DB48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484784"/>
            <a:ext cx="2381582" cy="83831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99BFF62-B467-491D-16F7-2D1180DB0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534" y="1196752"/>
            <a:ext cx="3950096" cy="556991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8F413B6-12A0-C9B2-91F0-F509BFFDFE9C}"/>
              </a:ext>
            </a:extLst>
          </p:cNvPr>
          <p:cNvSpPr txBox="1"/>
          <p:nvPr/>
        </p:nvSpPr>
        <p:spPr>
          <a:xfrm>
            <a:off x="35554" y="2742260"/>
            <a:ext cx="4752469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1.  Action Handler</a:t>
            </a:r>
            <a:r>
              <a:rPr lang="ko-KR" altLang="en-US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라는 추상클래스 생성</a:t>
            </a:r>
            <a:endParaRPr lang="en-US" altLang="ko-KR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  - 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블록 관련 이동사항을 통합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  - 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코드의 일관성 유지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  - 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확장성 편이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800" b="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800" b="0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2.  Plug in </a:t>
            </a:r>
            <a:r>
              <a:rPr lang="ko-KR" altLang="en-US" sz="1800" b="0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구조를 위해 블록 관련 </a:t>
            </a:r>
            <a:r>
              <a:rPr lang="en-US" altLang="ko-KR" sz="1800" b="0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8</a:t>
            </a:r>
            <a:r>
              <a:rPr lang="ko-KR" altLang="en-US" sz="1800" b="0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개 </a:t>
            </a:r>
            <a:r>
              <a:rPr lang="en-US" altLang="ko-KR" sz="1800" b="0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class </a:t>
            </a:r>
            <a:r>
              <a:rPr lang="ko-KR" altLang="en-US" sz="1800" b="0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생성</a:t>
            </a:r>
            <a:endParaRPr lang="en-US" altLang="ko-KR" sz="1800" b="0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(Handler class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정의</a:t>
            </a:r>
            <a:r>
              <a:rPr lang="en-US" altLang="ko-KR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)</a:t>
            </a:r>
            <a:endParaRPr lang="en-US" altLang="ko-KR" sz="1800" b="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endParaRPr lang="en-US" altLang="ko-KR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8FBF8B-AE6E-3C35-3B84-33727665A3BA}"/>
              </a:ext>
            </a:extLst>
          </p:cNvPr>
          <p:cNvSpPr txBox="1"/>
          <p:nvPr/>
        </p:nvSpPr>
        <p:spPr>
          <a:xfrm>
            <a:off x="107504" y="5258289"/>
            <a:ext cx="4968552" cy="144655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Bef>
                <a:spcPts val="360"/>
              </a:spcBef>
            </a:pPr>
            <a:r>
              <a:rPr lang="en-US" altLang="ko-KR" b="0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&lt;plugin </a:t>
            </a:r>
            <a:r>
              <a:rPr lang="ko-KR" altLang="en-US" b="0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방식</a:t>
            </a:r>
            <a:r>
              <a:rPr lang="en-US" altLang="ko-KR" b="0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&gt;</a:t>
            </a:r>
            <a:r>
              <a:rPr lang="ko-KR" altLang="en-US" b="0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 </a:t>
            </a:r>
            <a:endParaRPr lang="en-US" altLang="ko-KR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5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- </a:t>
            </a:r>
            <a:r>
              <a:rPr lang="ko-KR" altLang="en-US" sz="15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본체 유지</a:t>
            </a:r>
            <a:endParaRPr lang="en-US" altLang="ko-KR" sz="1500" b="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-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기능 추가 및 변경 시 외부에서 별도의 모듈 꽂아 넣는</a:t>
            </a:r>
            <a:endParaRPr lang="en-US" altLang="ko-KR" sz="15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  듯한 구조</a:t>
            </a:r>
            <a:endParaRPr lang="en-US" altLang="ko-KR" sz="15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      (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이를 위해서 </a:t>
            </a:r>
            <a:r>
              <a:rPr lang="ko-KR" altLang="en-US" sz="1500" spc="-1" dirty="0" err="1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핸들러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정의함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)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</a:t>
            </a:r>
            <a:endParaRPr lang="en-US" altLang="ko-KR" sz="1500" b="0" spc="-1" dirty="0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1BA5747-CA8B-801A-B8FF-100EFC435B42}"/>
              </a:ext>
            </a:extLst>
          </p:cNvPr>
          <p:cNvCxnSpPr>
            <a:cxnSpLocks/>
          </p:cNvCxnSpPr>
          <p:nvPr/>
        </p:nvCxnSpPr>
        <p:spPr>
          <a:xfrm>
            <a:off x="3415251" y="1903943"/>
            <a:ext cx="1362834" cy="12889"/>
          </a:xfrm>
          <a:prstGeom prst="straightConnector1">
            <a:avLst/>
          </a:prstGeom>
          <a:ln w="19050">
            <a:solidFill>
              <a:srgbClr val="0D0D0D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8590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5B0CF-BDCB-5042-95ED-3B3DA12A7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DB590-96AB-113B-6C5F-AB28A9230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1. Implementation – V1(8</a:t>
            </a:r>
            <a:r>
              <a:rPr kumimoji="1" lang="ko-KR" altLang="en-US" dirty="0"/>
              <a:t>개의 </a:t>
            </a:r>
            <a:r>
              <a:rPr kumimoji="1" lang="en-US" altLang="ko-KR" dirty="0"/>
              <a:t>handler</a:t>
            </a:r>
            <a:r>
              <a:rPr kumimoji="1" lang="en-US" altLang="en-US" dirty="0"/>
              <a:t>)</a:t>
            </a:r>
            <a:endParaRPr kumimoji="1" lang="ko-Kore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B5602F-57C6-C7E4-0789-7E1DB3F23F1A}"/>
              </a:ext>
            </a:extLst>
          </p:cNvPr>
          <p:cNvSpPr txBox="1"/>
          <p:nvPr/>
        </p:nvSpPr>
        <p:spPr>
          <a:xfrm>
            <a:off x="4572000" y="3429000"/>
            <a:ext cx="46805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&lt;</a:t>
            </a:r>
            <a:r>
              <a:rPr lang="en-US" altLang="ko-KR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Tetris class </a:t>
            </a:r>
            <a:r>
              <a:rPr lang="ko-KR" altLang="en-US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내 이동 함수 분리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&gt;</a:t>
            </a: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명확한 역할 분리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5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- </a:t>
            </a:r>
            <a:r>
              <a:rPr lang="ko-KR" altLang="en-US" sz="1500" b="0" spc="-1" dirty="0" err="1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핸들러</a:t>
            </a:r>
            <a:r>
              <a:rPr lang="ko-KR" altLang="en-US" sz="15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클래스는 이동 방향만</a:t>
            </a:r>
            <a:endParaRPr lang="en-US" altLang="ko-KR" sz="1500" b="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5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- Tetris Class</a:t>
            </a:r>
            <a:r>
              <a:rPr lang="ko-KR" altLang="en-US" sz="15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는 실제 게임 로직 담당</a:t>
            </a:r>
            <a:endParaRPr lang="en-US" altLang="ko-KR" sz="1500" b="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endParaRPr lang="en-US" altLang="ko-KR" sz="1600" b="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유지보수성 및 확장성 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  -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이동 로직을 한 곳에서 관리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  -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이동 로직 변경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/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추가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/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수정 용이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6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중복 코드 생략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2299C1B-92BD-5D19-CBE7-D84A0A0AA556}"/>
              </a:ext>
            </a:extLst>
          </p:cNvPr>
          <p:cNvGrpSpPr/>
          <p:nvPr/>
        </p:nvGrpSpPr>
        <p:grpSpPr>
          <a:xfrm>
            <a:off x="472549" y="1417638"/>
            <a:ext cx="3898676" cy="4176463"/>
            <a:chOff x="241276" y="1196752"/>
            <a:chExt cx="3781954" cy="359573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6D2F51B-22CC-54E9-A079-CAEEBD689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1277" y="1196752"/>
              <a:ext cx="3781953" cy="2124371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F4B6B1D-A8BF-6116-B615-1DCC22BCA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1276" y="3321122"/>
              <a:ext cx="3781953" cy="1471365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573474A5-F169-C073-6D86-59D6D7C5F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973" y="1417638"/>
            <a:ext cx="4153076" cy="160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032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EAB8A374-D4A6-0469-A5AC-830ABCC51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08920"/>
            <a:ext cx="4001058" cy="119079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7CE4E44-EA36-A6C2-D944-EBE45122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2. Implementation – v2 </a:t>
            </a:r>
            <a:r>
              <a:rPr lang="en-US" altLang="ko-KR" dirty="0"/>
              <a:t>Tetris key</a:t>
            </a:r>
            <a:r>
              <a:rPr lang="ko-KR" altLang="en-US" dirty="0"/>
              <a:t>별 동작 정의 </a:t>
            </a:r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43FE33-DDAD-7150-79B1-506A70C1972A}"/>
              </a:ext>
            </a:extLst>
          </p:cNvPr>
          <p:cNvSpPr txBox="1"/>
          <p:nvPr/>
        </p:nvSpPr>
        <p:spPr>
          <a:xfrm>
            <a:off x="251519" y="4212975"/>
            <a:ext cx="87849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 Dictionary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형태로 저장하여 빠른 조회 가능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 Dictionary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의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키 값에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(state, key)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를 저장하였기에 중복 처리도 용이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특정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‘state’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와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‘key’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로 어떤 동작이 </a:t>
            </a:r>
            <a:r>
              <a:rPr lang="ko-KR" altLang="en-US" spc="-1" dirty="0" err="1">
                <a:solidFill>
                  <a:srgbClr val="000000"/>
                </a:solidFill>
                <a:latin typeface="Calibri"/>
              </a:rPr>
              <a:t>매핑되어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 있는지 쉽게 파악 가능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 ‘key’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만으로도 구분 가능하지만 확장성을 대비하여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‘state’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값도 함께 키 값으로 설정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endParaRPr lang="en-US" altLang="ko-KR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8520FC5-90F2-F5FC-D3AB-11A5F3D8F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78" y="1052456"/>
            <a:ext cx="7430537" cy="1171739"/>
          </a:xfrm>
          <a:prstGeom prst="rect">
            <a:avLst/>
          </a:prstGeom>
        </p:spPr>
      </p:pic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768D602E-E71E-7456-7857-6B3785DFA621}"/>
              </a:ext>
            </a:extLst>
          </p:cNvPr>
          <p:cNvCxnSpPr>
            <a:cxnSpLocks/>
            <a:stCxn id="10" idx="3"/>
            <a:endCxn id="14" idx="3"/>
          </p:cNvCxnSpPr>
          <p:nvPr/>
        </p:nvCxnSpPr>
        <p:spPr>
          <a:xfrm flipH="1">
            <a:off x="3970633" y="1638326"/>
            <a:ext cx="3908382" cy="2116699"/>
          </a:xfrm>
          <a:prstGeom prst="bentConnector3">
            <a:avLst>
              <a:gd name="adj1" fmla="val -5849"/>
            </a:avLst>
          </a:prstGeom>
          <a:ln w="19050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F2E8889-1E12-572F-4C5F-64137907C7D2}"/>
              </a:ext>
            </a:extLst>
          </p:cNvPr>
          <p:cNvSpPr/>
          <p:nvPr/>
        </p:nvSpPr>
        <p:spPr>
          <a:xfrm>
            <a:off x="3106537" y="3658129"/>
            <a:ext cx="864096" cy="1937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ln>
                <a:solidFill>
                  <a:srgbClr val="FF0000"/>
                </a:solidFill>
              </a:ln>
              <a:noFill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733D49D-B409-A9AB-9237-B3D2488EBDA1}"/>
              </a:ext>
            </a:extLst>
          </p:cNvPr>
          <p:cNvSpPr/>
          <p:nvPr/>
        </p:nvSpPr>
        <p:spPr>
          <a:xfrm>
            <a:off x="1138256" y="1475173"/>
            <a:ext cx="3212366" cy="3577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FB0516D-B043-963D-00A8-399C7C39C5AB}"/>
              </a:ext>
            </a:extLst>
          </p:cNvPr>
          <p:cNvSpPr/>
          <p:nvPr/>
        </p:nvSpPr>
        <p:spPr>
          <a:xfrm>
            <a:off x="1138256" y="1832874"/>
            <a:ext cx="3212367" cy="3913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386969-8414-79F7-7376-194E325345F0}"/>
              </a:ext>
            </a:extLst>
          </p:cNvPr>
          <p:cNvSpPr txBox="1"/>
          <p:nvPr/>
        </p:nvSpPr>
        <p:spPr>
          <a:xfrm>
            <a:off x="4788023" y="2444883"/>
            <a:ext cx="3183667" cy="784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키 입력 시 상태 및 함수 처리</a:t>
            </a:r>
            <a:endParaRPr lang="en-US" altLang="ko-KR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AutoNum type="arabicPeriod"/>
            </a:pPr>
            <a:endParaRPr lang="en-US" altLang="ko-KR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AutoNum type="arabicPeriod"/>
            </a:pPr>
            <a:r>
              <a:rPr lang="ko-KR" altLang="en-US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함수처리 후 충돌 시 대안</a:t>
            </a:r>
            <a:endParaRPr lang="en-US" altLang="ko-KR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C87F82F7-E36B-3781-1CF4-48AD09583DE3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4350622" y="1832874"/>
            <a:ext cx="2029235" cy="612009"/>
          </a:xfrm>
          <a:prstGeom prst="bentConnector2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>
            <a:extLst>
              <a:ext uri="{FF2B5EF4-FFF2-40B4-BE49-F238E27FC236}">
                <a16:creationId xmlns:a16="http://schemas.microsoft.com/office/drawing/2014/main" id="{EAA7CA24-2AA5-E030-3C03-367EBFF7C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587" y="5667739"/>
            <a:ext cx="4477375" cy="56205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1112138B-EED1-4A2E-B629-384B57C408E3}"/>
              </a:ext>
            </a:extLst>
          </p:cNvPr>
          <p:cNvSpPr txBox="1"/>
          <p:nvPr/>
        </p:nvSpPr>
        <p:spPr>
          <a:xfrm>
            <a:off x="251520" y="6258798"/>
            <a:ext cx="561127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〮    </a:t>
            </a:r>
            <a:r>
              <a:rPr lang="ko-KR" altLang="en-US" sz="1500" dirty="0"/>
              <a:t>위와 같이 새로운 상태와 키 값을 입력해주면 됨</a:t>
            </a:r>
            <a:endParaRPr lang="en-US" altLang="ko-KR" sz="1500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3BAF41E-2A60-6B55-5D39-59E95C8FCBCE}"/>
              </a:ext>
            </a:extLst>
          </p:cNvPr>
          <p:cNvSpPr/>
          <p:nvPr/>
        </p:nvSpPr>
        <p:spPr>
          <a:xfrm>
            <a:off x="1016234" y="1564765"/>
            <a:ext cx="171850" cy="150939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1</a:t>
            </a:r>
            <a:endParaRPr lang="ko-KR" altLang="en-US" sz="10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33A994D-59C7-F3EA-810E-9FDB4118E05D}"/>
              </a:ext>
            </a:extLst>
          </p:cNvPr>
          <p:cNvSpPr/>
          <p:nvPr/>
        </p:nvSpPr>
        <p:spPr>
          <a:xfrm>
            <a:off x="1016235" y="1945972"/>
            <a:ext cx="171850" cy="150939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2</a:t>
            </a:r>
            <a:endParaRPr lang="ko-KR" altLang="en-US" sz="10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670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6F1FB-1C76-159F-2949-16E0A459F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B0A980-0897-E11A-710E-FB2235AC5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/>
          <a:lstStyle/>
          <a:p>
            <a:r>
              <a:rPr kumimoji="1" lang="en-US" altLang="en-US" dirty="0"/>
              <a:t>2. Implementation – v2 </a:t>
            </a:r>
            <a:r>
              <a:rPr lang="en-US" altLang="ko-KR" dirty="0"/>
              <a:t>Tetris key</a:t>
            </a:r>
            <a:r>
              <a:rPr lang="ko-KR" altLang="en-US" dirty="0"/>
              <a:t>별 동작 정의 </a:t>
            </a:r>
            <a:endParaRPr kumimoji="1" lang="ko-Kore-KR" altLang="en-US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73FB226E-88E0-8304-BA5C-5387FD42B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8" y="3436201"/>
            <a:ext cx="3384376" cy="42484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8905BD7-BCD4-5DF3-89C8-248E1E437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490" y="1480570"/>
            <a:ext cx="5075006" cy="43967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CE0B14-3BD0-51E5-5014-DA90A285033E}"/>
              </a:ext>
            </a:extLst>
          </p:cNvPr>
          <p:cNvSpPr txBox="1"/>
          <p:nvPr/>
        </p:nvSpPr>
        <p:spPr>
          <a:xfrm>
            <a:off x="107504" y="4077072"/>
            <a:ext cx="34563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&lt;</a:t>
            </a:r>
            <a:r>
              <a:rPr lang="ko-KR" altLang="en-US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매번 필요한 필수 </a:t>
            </a:r>
            <a:r>
              <a:rPr lang="en-US" altLang="ko-KR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‘key’&gt;</a:t>
            </a:r>
            <a:r>
              <a:rPr lang="ko-KR" altLang="en-US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 </a:t>
            </a:r>
            <a:br>
              <a:rPr lang="en-US" altLang="ko-KR" spc="-1" dirty="0">
                <a:solidFill>
                  <a:srgbClr val="000000"/>
                </a:solidFill>
                <a:latin typeface="Calibri"/>
              </a:rPr>
            </a:br>
            <a:r>
              <a:rPr lang="en-US" altLang="ko-KR" sz="1500" b="1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z="1500" b="1" spc="-1" dirty="0" err="1">
                <a:solidFill>
                  <a:srgbClr val="000000"/>
                </a:solidFill>
                <a:latin typeface="Calibri"/>
              </a:rPr>
              <a:t>필수키</a:t>
            </a:r>
            <a:r>
              <a:rPr lang="ko-KR" altLang="en-US" sz="1500" b="1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altLang="ko-KR" sz="1500" b="1" spc="-1" dirty="0">
                <a:solidFill>
                  <a:srgbClr val="000000"/>
                </a:solidFill>
                <a:latin typeface="Calibri"/>
              </a:rPr>
              <a:t>[‘a’, ’d’, ‘w’, ‘q’, ‘ ’,  ‘0123456’]</a:t>
            </a:r>
          </a:p>
          <a:p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   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-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위와 같은 필수키는 모든 </a:t>
            </a:r>
            <a:r>
              <a:rPr lang="ko-KR" altLang="en-US" sz="1500" spc="-1" dirty="0" err="1">
                <a:solidFill>
                  <a:srgbClr val="000000"/>
                </a:solidFill>
                <a:latin typeface="Calibri"/>
              </a:rPr>
              <a:t>테트리스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     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     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에서 필수적으로 사용됨</a:t>
            </a:r>
            <a:endParaRPr lang="en-US" altLang="ko-KR" sz="1500" spc="-1" dirty="0">
              <a:solidFill>
                <a:srgbClr val="FF0000"/>
              </a:solidFill>
              <a:latin typeface="Calibri"/>
            </a:endParaRPr>
          </a:p>
          <a:p>
            <a:endParaRPr lang="en-US" altLang="ko-KR" sz="1500" spc="-1" dirty="0">
              <a:solidFill>
                <a:srgbClr val="FF0000"/>
              </a:solidFill>
              <a:latin typeface="Calibri"/>
            </a:endParaRPr>
          </a:p>
          <a:p>
            <a:r>
              <a:rPr lang="ko-KR" altLang="en-US" sz="1500" spc="-1" dirty="0">
                <a:solidFill>
                  <a:srgbClr val="FF0000"/>
                </a:solidFill>
                <a:latin typeface="Calibri"/>
              </a:rPr>
              <a:t>새로운 객체 생성이 용이하도록 설정</a:t>
            </a:r>
            <a:endParaRPr lang="en-US" altLang="ko-KR" sz="1500" spc="-1" dirty="0">
              <a:solidFill>
                <a:srgbClr val="FF0000"/>
              </a:solidFill>
              <a:latin typeface="Calibri"/>
            </a:endParaRPr>
          </a:p>
          <a:p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새로운 기능의 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key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추가 시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r>
              <a:rPr lang="en-US" altLang="ko-KR" sz="1500" spc="-1" dirty="0" err="1">
                <a:solidFill>
                  <a:srgbClr val="000000"/>
                </a:solidFill>
                <a:latin typeface="Calibri"/>
              </a:rPr>
              <a:t>set_operate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함수를 활용하여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수동 추가 가능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(CTETRIS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에서 활용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)</a:t>
            </a:r>
          </a:p>
        </p:txBody>
      </p:sp>
      <p:sp>
        <p:nvSpPr>
          <p:cNvPr id="3" name="왼쪽 중괄호 2">
            <a:extLst>
              <a:ext uri="{FF2B5EF4-FFF2-40B4-BE49-F238E27FC236}">
                <a16:creationId xmlns:a16="http://schemas.microsoft.com/office/drawing/2014/main" id="{D76D0EA2-FB96-6305-EBDC-9CA582CC36FB}"/>
              </a:ext>
            </a:extLst>
          </p:cNvPr>
          <p:cNvSpPr/>
          <p:nvPr/>
        </p:nvSpPr>
        <p:spPr>
          <a:xfrm>
            <a:off x="3530216" y="1533806"/>
            <a:ext cx="291923" cy="4301189"/>
          </a:xfrm>
          <a:prstGeom prst="leftBrace">
            <a:avLst>
              <a:gd name="adj1" fmla="val 8333"/>
              <a:gd name="adj2" fmla="val 48949"/>
            </a:avLst>
          </a:prstGeom>
          <a:ln w="19050">
            <a:solidFill>
              <a:srgbClr val="0D0D0D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말풍선: 사각형 5">
            <a:extLst>
              <a:ext uri="{FF2B5EF4-FFF2-40B4-BE49-F238E27FC236}">
                <a16:creationId xmlns:a16="http://schemas.microsoft.com/office/drawing/2014/main" id="{890B665A-39E7-1AAF-9FA7-D48B3910E9DD}"/>
              </a:ext>
            </a:extLst>
          </p:cNvPr>
          <p:cNvSpPr/>
          <p:nvPr/>
        </p:nvSpPr>
        <p:spPr>
          <a:xfrm>
            <a:off x="323528" y="1097290"/>
            <a:ext cx="2592288" cy="1827654"/>
          </a:xfrm>
          <a:prstGeom prst="wedgeRectCallout">
            <a:avLst>
              <a:gd name="adj1" fmla="val -31999"/>
              <a:gd name="adj2" fmla="val 66911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&lt;SET_OPERATE </a:t>
            </a:r>
            <a:r>
              <a:rPr lang="ko-KR" altLang="en-US" sz="15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동작 설명</a:t>
            </a:r>
            <a:r>
              <a:rPr lang="en-US" altLang="ko-KR" sz="15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&gt;</a:t>
            </a:r>
          </a:p>
          <a:p>
            <a:pPr algn="ctr"/>
            <a:r>
              <a:rPr lang="ko-KR" altLang="en-US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현재 상태 </a:t>
            </a:r>
            <a:r>
              <a:rPr lang="en-US" altLang="ko-KR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: RUNNING</a:t>
            </a:r>
          </a:p>
          <a:p>
            <a:pPr algn="ctr"/>
            <a:r>
              <a:rPr lang="ko-KR" altLang="en-US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입력 키 </a:t>
            </a:r>
            <a:r>
              <a:rPr lang="en-US" altLang="ko-KR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: ‘A’(</a:t>
            </a:r>
            <a:r>
              <a:rPr lang="ko-KR" altLang="en-US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왼쪽이동</a:t>
            </a:r>
            <a:r>
              <a:rPr lang="en-US" altLang="ko-KR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)</a:t>
            </a:r>
          </a:p>
          <a:p>
            <a:pPr algn="ctr"/>
            <a:r>
              <a:rPr lang="ko-KR" altLang="en-US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키 입력 시 작동 함수 </a:t>
            </a:r>
            <a:r>
              <a:rPr lang="en-US" altLang="ko-KR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: </a:t>
            </a:r>
            <a:r>
              <a:rPr lang="en-US" altLang="ko-KR" sz="1300" dirty="0" err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OnLeft</a:t>
            </a:r>
            <a:r>
              <a:rPr lang="en-US" altLang="ko-KR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()</a:t>
            </a:r>
          </a:p>
          <a:p>
            <a:pPr algn="ctr"/>
            <a:r>
              <a:rPr lang="ko-KR" altLang="en-US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작동 후 게임 상태 </a:t>
            </a:r>
            <a:r>
              <a:rPr lang="en-US" altLang="ko-KR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: RUNNING</a:t>
            </a:r>
          </a:p>
          <a:p>
            <a:pPr algn="ctr"/>
            <a:r>
              <a:rPr lang="en-US" altLang="ko-KR" sz="11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------------------------------------------------------</a:t>
            </a:r>
          </a:p>
          <a:p>
            <a:pPr algn="ctr"/>
            <a:r>
              <a:rPr lang="ko-KR" altLang="en-US" sz="1300" dirty="0" err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출동씨</a:t>
            </a:r>
            <a:r>
              <a:rPr lang="en-US" altLang="ko-KR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ko-KR" altLang="en-US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복구 함수  </a:t>
            </a:r>
            <a:r>
              <a:rPr lang="en-US" altLang="ko-KR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: </a:t>
            </a:r>
            <a:r>
              <a:rPr lang="en-US" altLang="ko-KR" sz="1300" dirty="0" err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OnRight</a:t>
            </a:r>
            <a:r>
              <a:rPr lang="en-US" altLang="ko-KR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()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충돌 복구 후 상태 </a:t>
            </a:r>
            <a:r>
              <a:rPr lang="en-US" altLang="ko-KR" sz="14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: RUNNING</a:t>
            </a:r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867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2CCE8-A97A-67EC-F660-2045A821F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5B9217-74A4-8355-BD24-457A7300C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/>
          <a:lstStyle/>
          <a:p>
            <a:r>
              <a:rPr kumimoji="1" lang="en-US" altLang="en-US" dirty="0"/>
              <a:t>2. Implementation – v2 </a:t>
            </a:r>
            <a:r>
              <a:rPr lang="en-US" altLang="ko-KR" dirty="0"/>
              <a:t>Tetris key</a:t>
            </a:r>
            <a:r>
              <a:rPr lang="ko-KR" altLang="en-US" dirty="0"/>
              <a:t>별 동작 정의 </a:t>
            </a:r>
            <a:endParaRPr kumimoji="1" lang="ko-Kore-KR" altLang="en-US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AF71DCE7-6B74-0842-5BB2-3D2BDF233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8" y="3436201"/>
            <a:ext cx="3384376" cy="42484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E1EA46D-A349-786C-2B44-DFDF71CC5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490" y="1480570"/>
            <a:ext cx="5075006" cy="43967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5CC14F-7D8E-E29A-3101-7A612B5A8B0C}"/>
              </a:ext>
            </a:extLst>
          </p:cNvPr>
          <p:cNvSpPr txBox="1"/>
          <p:nvPr/>
        </p:nvSpPr>
        <p:spPr>
          <a:xfrm>
            <a:off x="107504" y="4077072"/>
            <a:ext cx="34563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&lt;</a:t>
            </a:r>
            <a:r>
              <a:rPr lang="ko-KR" altLang="en-US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매번 필요한 필수 </a:t>
            </a:r>
            <a:r>
              <a:rPr lang="en-US" altLang="ko-KR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‘key’&gt;</a:t>
            </a:r>
            <a:r>
              <a:rPr lang="ko-KR" altLang="en-US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 </a:t>
            </a:r>
            <a:br>
              <a:rPr lang="en-US" altLang="ko-KR" spc="-1" dirty="0">
                <a:solidFill>
                  <a:srgbClr val="000000"/>
                </a:solidFill>
                <a:latin typeface="Calibri"/>
              </a:rPr>
            </a:br>
            <a:r>
              <a:rPr lang="en-US" altLang="ko-KR" sz="1500" b="1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z="1500" b="1" spc="-1" dirty="0" err="1">
                <a:solidFill>
                  <a:srgbClr val="000000"/>
                </a:solidFill>
                <a:latin typeface="Calibri"/>
              </a:rPr>
              <a:t>필수키</a:t>
            </a:r>
            <a:r>
              <a:rPr lang="ko-KR" altLang="en-US" sz="1500" b="1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altLang="ko-KR" sz="1500" b="1" spc="-1" dirty="0">
                <a:solidFill>
                  <a:srgbClr val="000000"/>
                </a:solidFill>
                <a:latin typeface="Calibri"/>
              </a:rPr>
              <a:t>[‘a’, ’d’, ‘w’, ‘q’, ‘ ’,  ‘0123456’]</a:t>
            </a:r>
          </a:p>
          <a:p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   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-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위와 같은 필수키는 모든 </a:t>
            </a:r>
            <a:r>
              <a:rPr lang="ko-KR" altLang="en-US" sz="1500" spc="-1" dirty="0" err="1">
                <a:solidFill>
                  <a:srgbClr val="000000"/>
                </a:solidFill>
                <a:latin typeface="Calibri"/>
              </a:rPr>
              <a:t>테트리스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     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     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에서 필수적으로 사용됨</a:t>
            </a:r>
            <a:endParaRPr lang="en-US" altLang="ko-KR" sz="1500" spc="-1" dirty="0">
              <a:solidFill>
                <a:srgbClr val="FF0000"/>
              </a:solidFill>
              <a:latin typeface="Calibri"/>
            </a:endParaRPr>
          </a:p>
          <a:p>
            <a:endParaRPr lang="en-US" altLang="ko-KR" sz="1500" spc="-1" dirty="0">
              <a:solidFill>
                <a:srgbClr val="FF0000"/>
              </a:solidFill>
              <a:latin typeface="Calibri"/>
            </a:endParaRPr>
          </a:p>
          <a:p>
            <a:r>
              <a:rPr lang="ko-KR" altLang="en-US" sz="1500" spc="-1" dirty="0">
                <a:solidFill>
                  <a:srgbClr val="FF0000"/>
                </a:solidFill>
                <a:latin typeface="Calibri"/>
              </a:rPr>
              <a:t>새로운 객체 생성이 용이하도록 설정</a:t>
            </a:r>
            <a:endParaRPr lang="en-US" altLang="ko-KR" sz="1500" spc="-1" dirty="0">
              <a:solidFill>
                <a:srgbClr val="FF0000"/>
              </a:solidFill>
              <a:latin typeface="Calibri"/>
            </a:endParaRPr>
          </a:p>
          <a:p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새로운 기능의 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key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추가 시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r>
              <a:rPr lang="en-US" altLang="ko-KR" sz="1500" spc="-1" dirty="0" err="1">
                <a:solidFill>
                  <a:srgbClr val="000000"/>
                </a:solidFill>
                <a:latin typeface="Calibri"/>
              </a:rPr>
              <a:t>set_operate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함수를 활용하여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수동 추가 가능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(CTETRIS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에서 활용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)</a:t>
            </a:r>
          </a:p>
        </p:txBody>
      </p:sp>
      <p:sp>
        <p:nvSpPr>
          <p:cNvPr id="3" name="왼쪽 중괄호 2">
            <a:extLst>
              <a:ext uri="{FF2B5EF4-FFF2-40B4-BE49-F238E27FC236}">
                <a16:creationId xmlns:a16="http://schemas.microsoft.com/office/drawing/2014/main" id="{892A4636-4F32-2403-5753-58325500E133}"/>
              </a:ext>
            </a:extLst>
          </p:cNvPr>
          <p:cNvSpPr/>
          <p:nvPr/>
        </p:nvSpPr>
        <p:spPr>
          <a:xfrm>
            <a:off x="3530216" y="1533806"/>
            <a:ext cx="291923" cy="4301189"/>
          </a:xfrm>
          <a:prstGeom prst="leftBrace">
            <a:avLst>
              <a:gd name="adj1" fmla="val 8333"/>
              <a:gd name="adj2" fmla="val 48949"/>
            </a:avLst>
          </a:prstGeom>
          <a:ln w="19050">
            <a:solidFill>
              <a:srgbClr val="0D0D0D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말풍선: 사각형 5">
            <a:extLst>
              <a:ext uri="{FF2B5EF4-FFF2-40B4-BE49-F238E27FC236}">
                <a16:creationId xmlns:a16="http://schemas.microsoft.com/office/drawing/2014/main" id="{E7A59180-FB6D-8DB8-547E-42831D4463A2}"/>
              </a:ext>
            </a:extLst>
          </p:cNvPr>
          <p:cNvSpPr/>
          <p:nvPr/>
        </p:nvSpPr>
        <p:spPr>
          <a:xfrm>
            <a:off x="323528" y="1097290"/>
            <a:ext cx="2592288" cy="1827654"/>
          </a:xfrm>
          <a:prstGeom prst="wedgeRectCallout">
            <a:avLst>
              <a:gd name="adj1" fmla="val -31999"/>
              <a:gd name="adj2" fmla="val 66911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&lt;SET_OPERATE </a:t>
            </a:r>
            <a:r>
              <a:rPr lang="ko-KR" altLang="en-US" sz="15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동작 설명</a:t>
            </a:r>
            <a:r>
              <a:rPr lang="en-US" altLang="ko-KR" sz="15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&gt;</a:t>
            </a:r>
          </a:p>
          <a:p>
            <a:pPr algn="ctr"/>
            <a:r>
              <a:rPr lang="ko-KR" altLang="en-US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현재 상태 </a:t>
            </a:r>
            <a:r>
              <a:rPr lang="en-US" altLang="ko-KR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: RUNNING</a:t>
            </a:r>
          </a:p>
          <a:p>
            <a:pPr algn="ctr"/>
            <a:r>
              <a:rPr lang="ko-KR" altLang="en-US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입력 키 </a:t>
            </a:r>
            <a:r>
              <a:rPr lang="en-US" altLang="ko-KR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: ‘A’(</a:t>
            </a:r>
            <a:r>
              <a:rPr lang="ko-KR" altLang="en-US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왼쪽이동</a:t>
            </a:r>
            <a:r>
              <a:rPr lang="en-US" altLang="ko-KR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)</a:t>
            </a:r>
          </a:p>
          <a:p>
            <a:pPr algn="ctr"/>
            <a:r>
              <a:rPr lang="ko-KR" altLang="en-US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키 입력 시 작동 함수 </a:t>
            </a:r>
            <a:r>
              <a:rPr lang="en-US" altLang="ko-KR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: </a:t>
            </a:r>
            <a:r>
              <a:rPr lang="en-US" altLang="ko-KR" sz="1300" dirty="0" err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OnLeft</a:t>
            </a:r>
            <a:r>
              <a:rPr lang="en-US" altLang="ko-KR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()</a:t>
            </a:r>
          </a:p>
          <a:p>
            <a:pPr algn="ctr"/>
            <a:r>
              <a:rPr lang="ko-KR" altLang="en-US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작동 후 게임 상태 </a:t>
            </a:r>
            <a:r>
              <a:rPr lang="en-US" altLang="ko-KR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: RUNNING</a:t>
            </a:r>
          </a:p>
          <a:p>
            <a:pPr algn="ctr"/>
            <a:r>
              <a:rPr lang="en-US" altLang="ko-KR" sz="11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------------------------------------------------------</a:t>
            </a:r>
          </a:p>
          <a:p>
            <a:pPr algn="ctr"/>
            <a:r>
              <a:rPr lang="ko-KR" altLang="en-US" sz="1300" dirty="0" err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출동씨</a:t>
            </a:r>
            <a:r>
              <a:rPr lang="en-US" altLang="ko-KR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ko-KR" altLang="en-US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복구 함수  </a:t>
            </a:r>
            <a:r>
              <a:rPr lang="en-US" altLang="ko-KR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: </a:t>
            </a:r>
            <a:r>
              <a:rPr lang="en-US" altLang="ko-KR" sz="1300" dirty="0" err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OnRight</a:t>
            </a:r>
            <a:r>
              <a:rPr lang="en-US" altLang="ko-KR" sz="13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()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충돌 복구 후 상태 </a:t>
            </a:r>
            <a:r>
              <a:rPr lang="en-US" altLang="ko-KR" sz="14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: RUNNING</a:t>
            </a:r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062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DC9C4-40D3-3DB2-255E-26CCFEE54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DB6366-D510-6CE8-AC4D-7B7B8BB07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2. Implementation – v2 </a:t>
            </a:r>
            <a:r>
              <a:rPr lang="en-US" altLang="ko-KR" dirty="0"/>
              <a:t>Tetris key</a:t>
            </a:r>
            <a:r>
              <a:rPr lang="ko-KR" altLang="en-US" dirty="0"/>
              <a:t>별 동작에 따른 </a:t>
            </a:r>
            <a:r>
              <a:rPr lang="en-US" altLang="ko-KR" dirty="0"/>
              <a:t>accept</a:t>
            </a:r>
            <a:endParaRPr kumimoji="1" lang="ko-Kore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5D02E63-FDAD-11C0-5B61-C68E25369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84784"/>
            <a:ext cx="5544616" cy="35304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B439BB-3325-B204-EDC9-C7BC31245FD1}"/>
              </a:ext>
            </a:extLst>
          </p:cNvPr>
          <p:cNvSpPr txBox="1"/>
          <p:nvPr/>
        </p:nvSpPr>
        <p:spPr>
          <a:xfrm>
            <a:off x="457200" y="5445224"/>
            <a:ext cx="7585623" cy="697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미리 등록된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HANDLER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에서 모든 동작 처리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-&gt;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매우 간단해진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accept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기능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복잡한 분기 및 추가 로직 생략 가능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3510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05613-2C84-A449-6B4D-558878F80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F64585-826D-CF4F-5E61-82024A1E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3. Implementation – </a:t>
            </a:r>
            <a:r>
              <a:rPr kumimoji="1" lang="en-US" altLang="en-US" dirty="0" err="1"/>
              <a:t>Ctetris</a:t>
            </a:r>
            <a:r>
              <a:rPr kumimoji="1" lang="en-US" altLang="en-US" dirty="0"/>
              <a:t> </a:t>
            </a:r>
            <a:r>
              <a:rPr kumimoji="1" lang="ko-KR" altLang="en-US" dirty="0"/>
              <a:t>상속</a:t>
            </a:r>
            <a:endParaRPr kumimoji="1" lang="ko-Kore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AF0A20-BCB1-E181-CD48-399E570CF93A}"/>
              </a:ext>
            </a:extLst>
          </p:cNvPr>
          <p:cNvSpPr txBox="1"/>
          <p:nvPr/>
        </p:nvSpPr>
        <p:spPr>
          <a:xfrm>
            <a:off x="179512" y="5335468"/>
            <a:ext cx="7585623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&lt;</a:t>
            </a:r>
            <a:r>
              <a:rPr lang="en-US" altLang="ko-KR" spc="-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Ctetris</a:t>
            </a:r>
            <a:r>
              <a:rPr lang="en-US" altLang="ko-KR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 </a:t>
            </a:r>
            <a:r>
              <a:rPr lang="ko-KR" altLang="en-US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작성 전 </a:t>
            </a:r>
            <a:r>
              <a:rPr lang="en-US" altLang="ko-KR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method </a:t>
            </a:r>
            <a:r>
              <a:rPr lang="ko-KR" altLang="en-US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접근 수준 변경</a:t>
            </a:r>
            <a:r>
              <a:rPr lang="en-US" altLang="ko-KR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&gt;</a:t>
            </a:r>
            <a:endParaRPr lang="en-US" altLang="ko-KR" sz="1600" b="0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〮 Tetris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를 상속해주기 전에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public, private, protected method 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모두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구분 완료</a:t>
            </a:r>
            <a:endParaRPr lang="en-US" altLang="ko-KR" sz="16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코드의 안전성을 위해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-&gt; 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상속 시 잘못된 접근 방지 가능</a:t>
            </a:r>
            <a:endParaRPr lang="en-US" altLang="ko-KR" sz="16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코드의 명확한 의도 및 의미 전달</a:t>
            </a:r>
            <a:endParaRPr lang="en-US" altLang="ko-KR" sz="1800" b="0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35D65F-1269-51F6-4CBA-7280EE23D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057" y="1327581"/>
            <a:ext cx="4701839" cy="131473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17BF616-BAEE-4A38-F61B-20F2C391F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29" y="1327581"/>
            <a:ext cx="3820423" cy="136789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E6C6981-8EE5-D8D6-43F3-6ACCDD41A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0056" y="3067193"/>
            <a:ext cx="4252383" cy="137866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888ECCA-9F16-65A9-CB1D-B688BBD7FF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29" y="2802775"/>
            <a:ext cx="3820422" cy="225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246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06E71-1E98-6B8D-EDE0-C1EB42C56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866784-761E-D84B-B806-BEE9950F7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3. Implementation – </a:t>
            </a:r>
            <a:r>
              <a:rPr kumimoji="1" lang="en-US" altLang="en-US" dirty="0" err="1"/>
              <a:t>CTetris</a:t>
            </a:r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229608-828F-C674-BC66-986E33F40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99" y="1196752"/>
            <a:ext cx="8792802" cy="14480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BEA8FF-5FB4-9A63-4B1B-635908CF3EED}"/>
              </a:ext>
            </a:extLst>
          </p:cNvPr>
          <p:cNvSpPr txBox="1"/>
          <p:nvPr/>
        </p:nvSpPr>
        <p:spPr>
          <a:xfrm>
            <a:off x="323528" y="2794863"/>
            <a:ext cx="748883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&lt;</a:t>
            </a:r>
            <a:r>
              <a:rPr lang="en-US" altLang="ko-KR" spc="-1" dirty="0" err="1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Ctetris</a:t>
            </a:r>
            <a:r>
              <a:rPr lang="en-US" altLang="ko-KR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작성</a:t>
            </a:r>
            <a:r>
              <a:rPr lang="en-US" altLang="ko-KR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&gt;</a:t>
            </a:r>
            <a:endParaRPr lang="en-US" altLang="ko-KR" sz="1800" b="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Tetris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상속받은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class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작성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accept method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재정의 없이 작성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(pdf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요구사항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)</a:t>
            </a: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상속 후 같은 함수명에 기능 추가도 위와 같이 완료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D138031-9F7D-124F-9279-8F210D19A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97" y="4677794"/>
            <a:ext cx="3705742" cy="6954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849E21-A4EA-8FE2-E743-21E4B693B2F0}"/>
              </a:ext>
            </a:extLst>
          </p:cNvPr>
          <p:cNvSpPr txBox="1"/>
          <p:nvPr/>
        </p:nvSpPr>
        <p:spPr>
          <a:xfrm>
            <a:off x="345840" y="5427414"/>
            <a:ext cx="7992888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plug in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방식으로 구현되어 있어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,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 위와 같은 새 기능 추가에 용이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PDF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요구사항을 반영하여 플러그인 코드 방식은 그대로 유지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 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2226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13317-CDD3-AF82-4D78-704BAFCC8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3019F9-911A-0051-50CD-3DB4B8E7F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2. Implementation – v2 </a:t>
            </a:r>
            <a:r>
              <a:rPr lang="en-US" altLang="ko-KR" dirty="0"/>
              <a:t>Tetris key</a:t>
            </a:r>
            <a:r>
              <a:rPr lang="ko-KR" altLang="en-US" dirty="0"/>
              <a:t>별 동작에 따른 </a:t>
            </a:r>
            <a:r>
              <a:rPr lang="en-US" altLang="ko-KR" dirty="0"/>
              <a:t>main</a:t>
            </a:r>
            <a:r>
              <a:rPr lang="ko-KR" altLang="en-US" dirty="0"/>
              <a:t> </a:t>
            </a:r>
            <a:endParaRPr kumimoji="1" lang="ko-Kore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772E34-E21B-15D0-24B0-A1F880F20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5" y="1556792"/>
            <a:ext cx="9043789" cy="20113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8C78E7-C440-A961-12E8-B80B88153B4C}"/>
              </a:ext>
            </a:extLst>
          </p:cNvPr>
          <p:cNvSpPr txBox="1"/>
          <p:nvPr/>
        </p:nvSpPr>
        <p:spPr>
          <a:xfrm>
            <a:off x="475307" y="4437112"/>
            <a:ext cx="748883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&lt;</a:t>
            </a:r>
            <a:r>
              <a:rPr lang="ko-KR" altLang="en-US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상속 받은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CTETRIS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기반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MAIN&gt;</a:t>
            </a:r>
            <a:endParaRPr lang="en-US" altLang="ko-KR" sz="1800" b="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‘X’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를 눌렀을 때도 잘 작동함을 확인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상속 받았기에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TETRIS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에 있는 모든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METHOD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도 활용 가능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00527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1027" name="Picture 3" descr="C:\Users\Kilho Lee\Dropbox\Research documents\Lab_misc\연구실로고\MISYS 세로-컬러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176" y="2276872"/>
            <a:ext cx="2195944" cy="1763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548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8575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smtClean="0">
            <a:solidFill>
              <a:schemeClr val="tx1"/>
            </a:solidFill>
            <a:latin typeface="Calibri" pitchFamily="34" charset="0"/>
            <a:cs typeface="Calibri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0D0D0D"/>
          </a:solidFill>
          <a:prstDash val="solid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2180</TotalTime>
  <Words>677</Words>
  <Application>Microsoft Office PowerPoint</Application>
  <PresentationFormat>화면 슬라이드 쇼(4:3)</PresentationFormat>
  <Paragraphs>105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Calibri</vt:lpstr>
      <vt:lpstr>Office 테마</vt:lpstr>
      <vt:lpstr>TETRIS (Python) P#3 Progress Report 2025.07.15</vt:lpstr>
      <vt:lpstr>Outline</vt:lpstr>
      <vt:lpstr>1. Implementation – V1(8개의 handler)</vt:lpstr>
      <vt:lpstr>1. Implementation – V1(8개의 handler)</vt:lpstr>
      <vt:lpstr>2. Implementation – v2 Tetris key별 동작 정의 </vt:lpstr>
      <vt:lpstr>2. Implementation – v2 Tetris key별 동작 정의 </vt:lpstr>
      <vt:lpstr>2. Implementation – v2 Tetris key별 동작 정의 </vt:lpstr>
      <vt:lpstr>2. Implementation – v2 Tetris key별 동작에 따른 accept</vt:lpstr>
      <vt:lpstr>3. Implementation – Ctetris 상속</vt:lpstr>
      <vt:lpstr>3. Implementation – CTetris</vt:lpstr>
      <vt:lpstr>2. Implementation – v2 Tetris key별 동작에 따른 main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</dc:creator>
  <cp:lastModifiedBy>김찬형</cp:lastModifiedBy>
  <cp:revision>16</cp:revision>
  <dcterms:created xsi:type="dcterms:W3CDTF">2022-07-04T05:58:26Z</dcterms:created>
  <dcterms:modified xsi:type="dcterms:W3CDTF">2025-07-14T15:32:50Z</dcterms:modified>
</cp:coreProperties>
</file>