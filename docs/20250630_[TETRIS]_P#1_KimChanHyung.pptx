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604" r:id="rId3"/>
    <p:sldId id="669" r:id="rId4"/>
    <p:sldId id="678" r:id="rId5"/>
    <p:sldId id="670" r:id="rId6"/>
    <p:sldId id="671" r:id="rId7"/>
    <p:sldId id="682" r:id="rId8"/>
    <p:sldId id="672" r:id="rId9"/>
    <p:sldId id="679" r:id="rId10"/>
    <p:sldId id="673" r:id="rId11"/>
    <p:sldId id="680" r:id="rId12"/>
    <p:sldId id="677" r:id="rId13"/>
    <p:sldId id="681" r:id="rId14"/>
    <p:sldId id="603" r:id="rId1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3300"/>
    <a:srgbClr val="3988A1"/>
    <a:srgbClr val="BFBFBF"/>
    <a:srgbClr val="0D0D0D"/>
    <a:srgbClr val="F9C55A"/>
    <a:srgbClr val="FDE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88351" autoAdjust="0"/>
  </p:normalViewPr>
  <p:slideViewPr>
    <p:cSldViewPr>
      <p:cViewPr varScale="1">
        <p:scale>
          <a:sx n="73" d="100"/>
          <a:sy n="73" d="100"/>
        </p:scale>
        <p:origin x="176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0" y="422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080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35B8F-D6B8-4B1A-BED5-DBBA10E46047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B4096-A3A2-4F30-BA97-9793FEF49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4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15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대표 블록들을 기준으로</a:t>
            </a:r>
            <a:endParaRPr lang="en-US" altLang="ko-KR" sz="1200" dirty="0"/>
          </a:p>
          <a:p>
            <a:r>
              <a:rPr lang="en-US" altLang="ko-KR" sz="1200" dirty="0" err="1"/>
              <a:t>rotate_arr</a:t>
            </a:r>
            <a:r>
              <a:rPr lang="en-US" altLang="ko-KR" sz="1200" dirty="0"/>
              <a:t> </a:t>
            </a:r>
            <a:r>
              <a:rPr lang="ko-KR" altLang="en-US" sz="1200" dirty="0"/>
              <a:t>함수 활용하여</a:t>
            </a:r>
            <a:endParaRPr lang="en-US" altLang="ko-KR" sz="1200" dirty="0"/>
          </a:p>
          <a:p>
            <a:r>
              <a:rPr lang="en-US" altLang="ko-KR" sz="1200" dirty="0" err="1"/>
              <a:t>Rotate_block</a:t>
            </a:r>
            <a:r>
              <a:rPr lang="ko-KR" altLang="en-US" sz="1200" dirty="0"/>
              <a:t>에 위의 </a:t>
            </a:r>
            <a:endParaRPr lang="en-US" altLang="ko-KR" sz="1200" dirty="0"/>
          </a:p>
          <a:p>
            <a:r>
              <a:rPr lang="ko-KR" altLang="en-US" sz="1200" dirty="0"/>
              <a:t>블록 형태 모두 추가 완료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 err="1"/>
              <a:t>유지〮보수</a:t>
            </a:r>
            <a:r>
              <a:rPr lang="ko-KR" altLang="en-US" sz="1200" dirty="0"/>
              <a:t> 측면에서 더 유리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18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14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E87D3-CB6D-E3AA-B1AF-8F7BC2EE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78776A-BBA5-EB5D-4F11-E23733F94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FC72CD-2D66-4758-C1EA-5B1F6D194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3520D0-3215-170D-B3BB-169AD9E31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479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558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6A64-F712-0DEA-852D-7A4E293E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DADDD1-8C0D-079E-0E24-ADE551323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938EB3-C97B-7576-FFC5-378381415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3949E9-6B3E-4FA4-CC4B-0EBBE520E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511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820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53D43-EC7C-A3A3-F8E8-27B21A93C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21F118-5FE7-9C01-AB77-1F3188D2A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FE020D-4B93-EF35-8E04-CE491AA52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3C23C7-7932-405E-20DE-5E732E4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232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533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C0B7-F0A7-42FF-1A0E-D43FF52F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C16047-F232-A260-1AB8-9B9311882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622C17-09BB-0069-1EE3-1F9D0A272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7DD9F7-9315-9C03-3EAF-8482D7E5C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13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 algn="r">
              <a:defRPr sz="3200">
                <a:latin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9644B-26F1-4A77-80B4-864CA05B8475}" type="datetime1">
              <a:rPr lang="ko-KR" altLang="en-US" smtClean="0"/>
              <a:t>2025-06-30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41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 sz="1600">
                <a:latin typeface="Calibri" panose="020F0502020204030204" pitchFamily="34" charset="0"/>
                <a:cs typeface="Times New Roman" panose="02020603050405020304" pitchFamily="18" charset="0"/>
              </a:defRPr>
            </a:lvl2pPr>
            <a:lvl3pPr>
              <a:defRPr sz="1400"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>
              <a:defRPr sz="1200"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>
              <a:defRPr sz="1100">
                <a:latin typeface="Calibri" panose="020F0502020204030204" pitchFamily="34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A0DF-1D7A-48E6-A273-4781B29FC3A2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6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39C-9C54-4D59-B63B-6A40A62DDA1D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34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800-C452-4BB4-A29E-1C525AD1212C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0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696B-9AD2-44FF-BD2C-41BB452FE4A1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03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C143-B4F5-4116-B5F3-D83AE60017C9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18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BDB4-7A29-41E6-A346-B23989C956FF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6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8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53D-6090-4BEC-A9F8-8A6C8FC86260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35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2BAD-40F7-494C-9C1B-FB21063E74DF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84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6FA3-784D-405C-B6FF-9C59F33B3B76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7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A628-0F48-49DD-B493-CEE122CBE4E3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00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A4631-7260-4D4B-B3D4-7EB9234DBA31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7452320" y="0"/>
            <a:ext cx="1691680" cy="1691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7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A4631-7260-4D4B-B3D4-7EB9234DBA31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https://lh3.googleusercontent.com/7G5NeQaGWmu01aZuzBN_jiCGqCDE7K5O5eT9dAI2oTRIleTQ1ZvQStLFLybGdWJpsRLjc-ihlfhXlahZ-NP8vJHuH2PR9wRRX8KpZQxeld-u0W6Fuw=w1280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73" y="121196"/>
            <a:ext cx="1468686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lh3.googleusercontent.com/HKTsDQnD5XDpENfjlrGI0oK4fnM6tz3yUgSN00wgKjgtsgfo32sBuriKTsuTV7vI8iKOmSGJaBZESUATbvat2CPWxBdpat2GxJ4xHApashfSLjrW-4s=w1280"/>
          <p:cNvPicPr>
            <a:picLocks noChangeAspect="1" noChangeArrowheads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42978" y="465791"/>
            <a:ext cx="593518" cy="23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26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400" b="1" kern="1200">
          <a:solidFill>
            <a:srgbClr val="0070C0"/>
          </a:solidFill>
          <a:latin typeface="Calibri" panose="020F0502020204030204" pitchFamily="34" charset="0"/>
          <a:ea typeface="Arial Unicode MS" panose="020B0604020202020204" pitchFamily="50" charset="-127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2130430"/>
            <a:ext cx="8136904" cy="1470025"/>
          </a:xfrm>
        </p:spPr>
        <p:txBody>
          <a:bodyPr>
            <a:noAutofit/>
          </a:bodyPr>
          <a:lstStyle/>
          <a:p>
            <a:r>
              <a:rPr lang="en-US" altLang="ko-KR" sz="2800" dirty="0"/>
              <a:t>TETRIS</a:t>
            </a:r>
            <a:r>
              <a:rPr lang="ko-KR" altLang="en-US" sz="2800" dirty="0"/>
              <a:t> </a:t>
            </a:r>
            <a:r>
              <a:rPr lang="en-US" altLang="ko-KR" sz="2800" dirty="0"/>
              <a:t>(Python) P#1</a:t>
            </a:r>
            <a:br>
              <a:rPr lang="en-US" altLang="ko-KR" sz="2800" dirty="0"/>
            </a:br>
            <a:r>
              <a:rPr lang="en-US" altLang="ko-KR" sz="2000" dirty="0"/>
              <a:t>Progress Report 2025.06.30</a:t>
            </a:r>
            <a:endParaRPr lang="ko-KR" altLang="en-US" sz="2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7992888" cy="1512168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/>
                </a:solidFill>
              </a:rPr>
              <a:t>Chan Hyung Kim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School of AI Convergence, SSU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40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300" dirty="0"/>
              <a:t>Random Selection of 7 Blocks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3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300" dirty="0"/>
              <a:t>Rotate Key Handling 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3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300" dirty="0"/>
              <a:t>Space Key Handling (Block Drop)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3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300" dirty="0"/>
              <a:t>Full Line Deletion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3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300" dirty="0"/>
              <a:t>Performance and</a:t>
            </a:r>
            <a:r>
              <a:rPr lang="ko-KR" altLang="en-US" sz="2300" dirty="0"/>
              <a:t> </a:t>
            </a:r>
            <a:r>
              <a:rPr lang="en-US" altLang="ko-KR" sz="2300" dirty="0"/>
              <a:t>Discussion</a:t>
            </a:r>
          </a:p>
          <a:p>
            <a:pPr lvl="1">
              <a:buFont typeface="+mj-lt"/>
              <a:buAutoNum type="arabicPeriod"/>
            </a:pPr>
            <a:endParaRPr lang="en-US" altLang="ko-KR" sz="2100" dirty="0"/>
          </a:p>
          <a:p>
            <a:endParaRPr lang="ko-KR" altLang="en-US" sz="23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1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</a:t>
            </a:r>
            <a:r>
              <a:rPr lang="en-US" altLang="ko-KR" dirty="0"/>
              <a:t>Random Selection of 7 Blocks – </a:t>
            </a:r>
            <a:r>
              <a:rPr lang="ko-KR" altLang="en-US" dirty="0"/>
              <a:t>방식 선정</a:t>
            </a: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9DC5E-605E-CCFC-B894-F1A6843EA2A3}"/>
              </a:ext>
            </a:extLst>
          </p:cNvPr>
          <p:cNvSpPr txBox="1"/>
          <p:nvPr/>
        </p:nvSpPr>
        <p:spPr>
          <a:xfrm>
            <a:off x="452368" y="1700808"/>
            <a:ext cx="4263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ko-KR" altLang="en-US" dirty="0">
                <a:ea typeface="Calibri" panose="020F0502020204030204" pitchFamily="34" charset="0"/>
                <a:cs typeface="Calibri" panose="020F0502020204030204" pitchFamily="34" charset="0"/>
              </a:rPr>
              <a:t>가지 블록타입들과 </a:t>
            </a:r>
            <a:endParaRPr lang="en-US" altLang="ko-KR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ko-KR" altLang="en-US" dirty="0">
                <a:ea typeface="Calibri" panose="020F0502020204030204" pitchFamily="34" charset="0"/>
                <a:cs typeface="Calibri" panose="020F0502020204030204" pitchFamily="34" charset="0"/>
              </a:rPr>
              <a:t>각 타입의 회전 시 </a:t>
            </a:r>
            <a:r>
              <a:rPr lang="ko-KR" altLang="en-US" dirty="0" err="1">
                <a:ea typeface="Calibri" panose="020F0502020204030204" pitchFamily="34" charset="0"/>
                <a:cs typeface="Calibri" panose="020F0502020204030204" pitchFamily="34" charset="0"/>
              </a:rPr>
              <a:t>블럭들</a:t>
            </a:r>
            <a:r>
              <a:rPr lang="ko-KR" altLang="en-US" dirty="0">
                <a:ea typeface="Calibri" panose="020F0502020204030204" pitchFamily="34" charset="0"/>
                <a:cs typeface="Calibri" panose="020F0502020204030204" pitchFamily="34" charset="0"/>
              </a:rPr>
              <a:t> 미리 생성</a:t>
            </a:r>
            <a:endParaRPr kumimoji="1"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AB8A09-33A8-6C79-3096-E26FEF347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247" y="2843808"/>
            <a:ext cx="3307890" cy="26671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C6AC2D-F207-C400-FF3B-CF2D74B13E0E}"/>
              </a:ext>
            </a:extLst>
          </p:cNvPr>
          <p:cNvSpPr txBox="1"/>
          <p:nvPr/>
        </p:nvSpPr>
        <p:spPr>
          <a:xfrm>
            <a:off x="4716016" y="1700808"/>
            <a:ext cx="4263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cs typeface="Calibri" panose="020F0502020204030204" pitchFamily="34" charset="0"/>
              </a:rPr>
              <a:t>대표 블록들만 생성 후</a:t>
            </a:r>
            <a:endParaRPr kumimoji="1" lang="en-US" altLang="ko-KR" dirty="0">
              <a:cs typeface="Calibri" panose="020F0502020204030204" pitchFamily="34" charset="0"/>
            </a:endParaRPr>
          </a:p>
          <a:p>
            <a:pPr algn="ctr"/>
            <a:r>
              <a:rPr kumimoji="1" lang="ko-KR" altLang="en-US" dirty="0">
                <a:cs typeface="Calibri" panose="020F0502020204030204" pitchFamily="34" charset="0"/>
              </a:rPr>
              <a:t>추후에 </a:t>
            </a:r>
            <a:r>
              <a:rPr kumimoji="1" lang="en-US" altLang="ko-KR" dirty="0">
                <a:cs typeface="Calibri" panose="020F0502020204030204" pitchFamily="34" charset="0"/>
              </a:rPr>
              <a:t>rotate </a:t>
            </a:r>
            <a:r>
              <a:rPr kumimoji="1" lang="ko-KR" altLang="en-US" dirty="0">
                <a:cs typeface="Calibri" panose="020F0502020204030204" pitchFamily="34" charset="0"/>
              </a:rPr>
              <a:t>함수 활용하여 </a:t>
            </a:r>
            <a:endParaRPr kumimoji="1" lang="en-US" altLang="ko-KR" dirty="0">
              <a:cs typeface="Calibri" panose="020F0502020204030204" pitchFamily="34" charset="0"/>
            </a:endParaRPr>
          </a:p>
          <a:p>
            <a:pPr algn="ctr"/>
            <a:r>
              <a:rPr kumimoji="1" lang="ko-KR" altLang="en-US" dirty="0">
                <a:cs typeface="Calibri" panose="020F0502020204030204" pitchFamily="34" charset="0"/>
              </a:rPr>
              <a:t>회전 블록 저장</a:t>
            </a:r>
            <a:endParaRPr kumimoji="1"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1FEA1BB-EE40-2666-DFE3-A3D364075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787" y="2822714"/>
            <a:ext cx="4058217" cy="8145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4FA0D0-589A-CF56-8A3D-E9C3C3C8D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786" y="5305520"/>
            <a:ext cx="4058217" cy="46894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9B1B983-F082-842F-03AD-8562DE681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786" y="3835791"/>
            <a:ext cx="4058217" cy="129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70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3192D-6BEE-A256-F376-DA400886A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5AF88-98CE-E3E8-226D-3698BF11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</a:t>
            </a:r>
            <a:r>
              <a:rPr lang="en-US" altLang="ko-KR" dirty="0"/>
              <a:t>Random Selection of 7 Blocks - </a:t>
            </a:r>
            <a:r>
              <a:rPr lang="ko-KR" altLang="en-US" dirty="0"/>
              <a:t>과정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344107-F078-6DF1-B363-35F7E450DDB3}"/>
              </a:ext>
            </a:extLst>
          </p:cNvPr>
          <p:cNvSpPr txBox="1"/>
          <p:nvPr/>
        </p:nvSpPr>
        <p:spPr>
          <a:xfrm>
            <a:off x="210173" y="1339697"/>
            <a:ext cx="4263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cs typeface="Calibri" panose="020F0502020204030204" pitchFamily="34" charset="0"/>
              </a:rPr>
              <a:t>1.</a:t>
            </a:r>
            <a:r>
              <a:rPr kumimoji="1" lang="ko-KR" altLang="en-US" dirty="0">
                <a:cs typeface="Calibri" panose="020F0502020204030204" pitchFamily="34" charset="0"/>
              </a:rPr>
              <a:t> 각 블록들의 대표블록만 저장</a:t>
            </a:r>
            <a:endParaRPr kumimoji="1"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3954BF0-C85F-4598-3A16-1DB73BE3F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31" y="1756832"/>
            <a:ext cx="4058217" cy="8145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5F2DAE-91D3-9B27-9752-02AC1A1E7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45" y="5707784"/>
            <a:ext cx="5648622" cy="65273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B31B901-0374-40BD-DA08-FDF6D7A341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31" y="3657073"/>
            <a:ext cx="4058217" cy="129436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3AE5E88-CD44-0C36-7ACB-222D2AC2E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0126" y="1749122"/>
            <a:ext cx="3655708" cy="3480078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62459A-2060-9B4C-3439-8FE0FB2B6002}"/>
              </a:ext>
            </a:extLst>
          </p:cNvPr>
          <p:cNvSpPr/>
          <p:nvPr/>
        </p:nvSpPr>
        <p:spPr>
          <a:xfrm>
            <a:off x="2185239" y="4375375"/>
            <a:ext cx="2088232" cy="1454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6C1C62E7-E423-3A5D-0EA2-2516F311280B}"/>
              </a:ext>
            </a:extLst>
          </p:cNvPr>
          <p:cNvCxnSpPr>
            <a:cxnSpLocks/>
            <a:stCxn id="15" idx="3"/>
            <a:endCxn id="13" idx="0"/>
          </p:cNvCxnSpPr>
          <p:nvPr/>
        </p:nvCxnSpPr>
        <p:spPr>
          <a:xfrm flipH="1">
            <a:off x="3003856" y="4448092"/>
            <a:ext cx="1269615" cy="1259692"/>
          </a:xfrm>
          <a:prstGeom prst="bentConnector4">
            <a:avLst>
              <a:gd name="adj1" fmla="val -18005"/>
              <a:gd name="adj2" fmla="val 52886"/>
            </a:avLst>
          </a:prstGeom>
          <a:ln w="1270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9877974C-AA11-65CE-D000-8733D9243FDC}"/>
              </a:ext>
            </a:extLst>
          </p:cNvPr>
          <p:cNvSpPr/>
          <p:nvPr/>
        </p:nvSpPr>
        <p:spPr>
          <a:xfrm>
            <a:off x="4716016" y="3109808"/>
            <a:ext cx="504056" cy="504056"/>
          </a:xfrm>
          <a:prstGeom prst="right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2C6C6E-B77C-EB15-6879-A79FFD925D9E}"/>
              </a:ext>
            </a:extLst>
          </p:cNvPr>
          <p:cNvSpPr txBox="1"/>
          <p:nvPr/>
        </p:nvSpPr>
        <p:spPr>
          <a:xfrm>
            <a:off x="210173" y="3287741"/>
            <a:ext cx="4263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cs typeface="Calibri" panose="020F0502020204030204" pitchFamily="34" charset="0"/>
              </a:rPr>
              <a:t>2.</a:t>
            </a:r>
            <a:r>
              <a:rPr kumimoji="1" lang="ko-KR" altLang="en-US" dirty="0">
                <a:cs typeface="Calibri" panose="020F0502020204030204" pitchFamily="34" charset="0"/>
              </a:rPr>
              <a:t> 아래 함수 활용 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4406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</a:t>
            </a:r>
            <a:r>
              <a:rPr lang="en-US" altLang="ko-KR" dirty="0"/>
              <a:t>Random Selection of 7 Blocks – </a:t>
            </a:r>
            <a:r>
              <a:rPr lang="ko-KR" altLang="en-US" dirty="0"/>
              <a:t>랜덤블록 선정</a:t>
            </a: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9DC5E-605E-CCFC-B894-F1A6843EA2A3}"/>
              </a:ext>
            </a:extLst>
          </p:cNvPr>
          <p:cNvSpPr txBox="1"/>
          <p:nvPr/>
        </p:nvSpPr>
        <p:spPr>
          <a:xfrm>
            <a:off x="899592" y="1207868"/>
            <a:ext cx="6560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위의 결과물로 생긴 </a:t>
            </a:r>
            <a:r>
              <a:rPr kumimoji="1" lang="en-US" altLang="ko-KR" dirty="0" err="1"/>
              <a:t>rotate_block</a:t>
            </a:r>
            <a:r>
              <a:rPr kumimoji="1" lang="ko-KR" altLang="en-US" dirty="0"/>
              <a:t>에서 임의의 블록 뽑기</a:t>
            </a:r>
            <a:endParaRPr kumimoji="1"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9C5757-C3C1-EBD8-C48B-BB3A3C410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360" y="1587483"/>
            <a:ext cx="3261717" cy="35480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5933D6-A22B-CED1-0BDC-2B3034F18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970" y="5805264"/>
            <a:ext cx="5268060" cy="562053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5186E21E-0AED-974F-6585-B0001D3F87E1}"/>
              </a:ext>
            </a:extLst>
          </p:cNvPr>
          <p:cNvSpPr/>
          <p:nvPr/>
        </p:nvSpPr>
        <p:spPr>
          <a:xfrm>
            <a:off x="4355976" y="5157192"/>
            <a:ext cx="432048" cy="492940"/>
          </a:xfrm>
          <a:prstGeom prst="down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6F18F9-85B2-95C2-31E3-5688DDAF738C}"/>
              </a:ext>
            </a:extLst>
          </p:cNvPr>
          <p:cNvSpPr txBox="1"/>
          <p:nvPr/>
        </p:nvSpPr>
        <p:spPr>
          <a:xfrm>
            <a:off x="2044013" y="6420871"/>
            <a:ext cx="6560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새 블록 생성시 난수를 발생시켜 블록 선정</a:t>
            </a:r>
            <a:endParaRPr kumimoji="1" lang="en-US" altLang="ko-KR" dirty="0"/>
          </a:p>
        </p:txBody>
      </p:sp>
      <p:sp>
        <p:nvSpPr>
          <p:cNvPr id="6" name="왼쪽 중괄호 5"/>
          <p:cNvSpPr/>
          <p:nvPr/>
        </p:nvSpPr>
        <p:spPr>
          <a:xfrm>
            <a:off x="2843808" y="1700808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 중괄호 10"/>
          <p:cNvSpPr/>
          <p:nvPr/>
        </p:nvSpPr>
        <p:spPr>
          <a:xfrm>
            <a:off x="2843808" y="2214662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왼쪽 중괄호 13"/>
          <p:cNvSpPr/>
          <p:nvPr/>
        </p:nvSpPr>
        <p:spPr>
          <a:xfrm>
            <a:off x="2843808" y="2708405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왼쪽 중괄호 14"/>
          <p:cNvSpPr/>
          <p:nvPr/>
        </p:nvSpPr>
        <p:spPr>
          <a:xfrm>
            <a:off x="2843808" y="3197180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왼쪽 중괄호 15"/>
          <p:cNvSpPr/>
          <p:nvPr/>
        </p:nvSpPr>
        <p:spPr>
          <a:xfrm>
            <a:off x="2843808" y="3663754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왼쪽 중괄호 16"/>
          <p:cNvSpPr/>
          <p:nvPr/>
        </p:nvSpPr>
        <p:spPr>
          <a:xfrm>
            <a:off x="2843808" y="4157327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왼쪽 중괄호 17"/>
          <p:cNvSpPr/>
          <p:nvPr/>
        </p:nvSpPr>
        <p:spPr>
          <a:xfrm>
            <a:off x="2843808" y="4670637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왼쪽 중괄호 18"/>
          <p:cNvSpPr/>
          <p:nvPr/>
        </p:nvSpPr>
        <p:spPr>
          <a:xfrm flipH="1">
            <a:off x="6257925" y="1696877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왼쪽 중괄호 19"/>
          <p:cNvSpPr/>
          <p:nvPr/>
        </p:nvSpPr>
        <p:spPr>
          <a:xfrm flipH="1">
            <a:off x="6257925" y="2210731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왼쪽 중괄호 20"/>
          <p:cNvSpPr/>
          <p:nvPr/>
        </p:nvSpPr>
        <p:spPr>
          <a:xfrm flipH="1">
            <a:off x="6257925" y="2704474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왼쪽 중괄호 21"/>
          <p:cNvSpPr/>
          <p:nvPr/>
        </p:nvSpPr>
        <p:spPr>
          <a:xfrm flipH="1">
            <a:off x="6257925" y="3193249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왼쪽 중괄호 22"/>
          <p:cNvSpPr/>
          <p:nvPr/>
        </p:nvSpPr>
        <p:spPr>
          <a:xfrm flipH="1">
            <a:off x="6257925" y="3659823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왼쪽 중괄호 23"/>
          <p:cNvSpPr/>
          <p:nvPr/>
        </p:nvSpPr>
        <p:spPr>
          <a:xfrm flipH="1">
            <a:off x="6257925" y="4153396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왼쪽 중괄호 24"/>
          <p:cNvSpPr/>
          <p:nvPr/>
        </p:nvSpPr>
        <p:spPr>
          <a:xfrm flipH="1">
            <a:off x="6257925" y="4666706"/>
            <a:ext cx="72008" cy="432048"/>
          </a:xfrm>
          <a:prstGeom prst="leftBrac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269403" y="4768348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</a:t>
            </a:r>
            <a:r>
              <a:rPr lang="ko-KR" altLang="en-US" sz="1000" dirty="0"/>
              <a:t>개의 </a:t>
            </a:r>
            <a:r>
              <a:rPr lang="en-US" altLang="ko-KR" sz="1000" dirty="0"/>
              <a:t>degree</a:t>
            </a:r>
            <a:endParaRPr lang="ko-KR" altLang="en-US" sz="1000" dirty="0"/>
          </a:p>
        </p:txBody>
      </p:sp>
      <p:sp>
        <p:nvSpPr>
          <p:cNvPr id="9" name="오른쪽 화살표 8"/>
          <p:cNvSpPr/>
          <p:nvPr/>
        </p:nvSpPr>
        <p:spPr>
          <a:xfrm flipH="1">
            <a:off x="2123728" y="3136522"/>
            <a:ext cx="511763" cy="352663"/>
          </a:xfrm>
          <a:prstGeom prst="right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9592" y="3183110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７개의 </a:t>
            </a:r>
            <a:r>
              <a:rPr lang="en-US" altLang="ko-KR" sz="1000" dirty="0"/>
              <a:t>Block Type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0677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/>
                <a:ea typeface="Arial Unicode MS"/>
                <a:cs typeface="Arial"/>
              </a:rPr>
              <a:t>2)”W”</a:t>
            </a:r>
            <a:r>
              <a:rPr lang="ko-KR" altLang="en-US" dirty="0">
                <a:latin typeface="Calibri"/>
                <a:ea typeface="Arial Unicode MS"/>
                <a:cs typeface="Arial"/>
              </a:rPr>
              <a:t>키</a:t>
            </a:r>
            <a:r>
              <a:rPr lang="en-US" altLang="ko-KR" dirty="0">
                <a:latin typeface="Calibri"/>
                <a:ea typeface="Arial Unicode MS"/>
                <a:cs typeface="Arial"/>
              </a:rPr>
              <a:t> </a:t>
            </a:r>
            <a:r>
              <a:rPr lang="ko-KR" altLang="en-US" dirty="0">
                <a:latin typeface="Calibri"/>
                <a:ea typeface="Arial Unicode MS"/>
                <a:cs typeface="Arial"/>
              </a:rPr>
              <a:t>처리</a:t>
            </a:r>
            <a:r>
              <a:rPr lang="en-US" altLang="ko-KR" dirty="0">
                <a:latin typeface="Calibri"/>
                <a:ea typeface="Arial Unicode MS"/>
                <a:cs typeface="Arial"/>
              </a:rPr>
              <a:t>(</a:t>
            </a:r>
            <a:r>
              <a:rPr lang="ko-KR" altLang="en-US" dirty="0">
                <a:latin typeface="Calibri"/>
                <a:ea typeface="Arial Unicode MS"/>
                <a:cs typeface="Arial"/>
              </a:rPr>
              <a:t>블록 회전 처리</a:t>
            </a:r>
            <a:r>
              <a:rPr lang="en-US" altLang="ko-KR" dirty="0">
                <a:latin typeface="Calibri"/>
                <a:ea typeface="Arial Unicode MS"/>
                <a:cs typeface="Arial"/>
              </a:rPr>
              <a:t>)</a:t>
            </a: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9DC5E-605E-CCFC-B894-F1A6843EA2A3}"/>
              </a:ext>
            </a:extLst>
          </p:cNvPr>
          <p:cNvSpPr txBox="1"/>
          <p:nvPr/>
        </p:nvSpPr>
        <p:spPr>
          <a:xfrm>
            <a:off x="251520" y="1461393"/>
            <a:ext cx="656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1.  Rotate </a:t>
            </a:r>
            <a:r>
              <a:rPr kumimoji="1" lang="ko-KR" altLang="en-US" dirty="0"/>
              <a:t>키 입력 </a:t>
            </a:r>
            <a:r>
              <a:rPr kumimoji="1" lang="en-US" altLang="ko-KR" dirty="0"/>
              <a:t>: Indexing</a:t>
            </a:r>
            <a:r>
              <a:rPr kumimoji="1" lang="ko-KR" altLang="en-US" dirty="0"/>
              <a:t>을 통한 블록 변환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369438-1FE2-D8D5-BD26-DFAD4B4C4F09}"/>
              </a:ext>
            </a:extLst>
          </p:cNvPr>
          <p:cNvSpPr txBox="1"/>
          <p:nvPr/>
        </p:nvSpPr>
        <p:spPr>
          <a:xfrm>
            <a:off x="467544" y="1754232"/>
            <a:ext cx="7625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〮 </a:t>
            </a:r>
            <a:r>
              <a:rPr lang="en-US" altLang="ko-KR" dirty="0"/>
              <a:t> </a:t>
            </a:r>
            <a:r>
              <a:rPr lang="en-US" altLang="ko-KR" dirty="0" err="1"/>
              <a:t>rotate_block</a:t>
            </a:r>
            <a:r>
              <a:rPr lang="ko-KR" altLang="en-US" dirty="0"/>
              <a:t>에 모든 회전 경우의 수가 들어있기에 </a:t>
            </a:r>
            <a:endParaRPr lang="en-US" altLang="ko-KR" dirty="0"/>
          </a:p>
          <a:p>
            <a:r>
              <a:rPr lang="en-US" altLang="ko-KR" dirty="0"/>
              <a:t>   W(</a:t>
            </a:r>
            <a:r>
              <a:rPr lang="ko-KR" altLang="en-US" dirty="0"/>
              <a:t>회전키</a:t>
            </a:r>
            <a:r>
              <a:rPr lang="en-US" altLang="ko-KR" dirty="0"/>
              <a:t>)</a:t>
            </a:r>
            <a:r>
              <a:rPr lang="ko-KR" altLang="en-US" dirty="0"/>
              <a:t>를 눌렀을 때 </a:t>
            </a:r>
            <a:r>
              <a:rPr lang="en-US" altLang="ko-KR" dirty="0"/>
              <a:t>Degree</a:t>
            </a:r>
            <a:r>
              <a:rPr lang="ko-KR" altLang="en-US" dirty="0"/>
              <a:t>변수만 증가시키며 회전했음을 나타냄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EC1E88-6F40-C75B-A601-19AEB1A024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69"/>
          <a:stretch>
            <a:fillRect/>
          </a:stretch>
        </p:blipFill>
        <p:spPr>
          <a:xfrm>
            <a:off x="753952" y="2532774"/>
            <a:ext cx="5877745" cy="5506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51C0F2E-2FA5-42D5-E7B5-34D101CC0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337" y="3322073"/>
            <a:ext cx="6449325" cy="9050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8754C11-B964-A224-AEE4-F0222DC6F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390" y="4881928"/>
            <a:ext cx="798417" cy="14026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65FD108-7B9A-9354-9A10-0CE79E3F8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4882793"/>
            <a:ext cx="867415" cy="140262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2882A35-E5C7-9246-F9F3-4EF1BE3833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2182" y="4884178"/>
            <a:ext cx="831185" cy="140262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AE09792-97F6-5C24-603A-BE46198FB3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0742" y="4881928"/>
            <a:ext cx="806509" cy="1402625"/>
          </a:xfrm>
          <a:prstGeom prst="rect">
            <a:avLst/>
          </a:prstGeom>
        </p:spPr>
      </p:pic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C865D02D-47D4-EF15-3230-BF143A8048A7}"/>
              </a:ext>
            </a:extLst>
          </p:cNvPr>
          <p:cNvSpPr/>
          <p:nvPr/>
        </p:nvSpPr>
        <p:spPr>
          <a:xfrm>
            <a:off x="4280415" y="4293096"/>
            <a:ext cx="651625" cy="360040"/>
          </a:xfrm>
          <a:prstGeom prst="down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E27E042-A173-658A-E69B-F78DCDF21E57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 flipV="1">
            <a:off x="1839015" y="5583241"/>
            <a:ext cx="1347375" cy="865"/>
          </a:xfrm>
          <a:prstGeom prst="straightConnector1">
            <a:avLst/>
          </a:prstGeom>
          <a:ln w="3810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367E264-00A6-034E-6949-08896EFA4D31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>
            <a:off x="3984807" y="5583241"/>
            <a:ext cx="1347375" cy="2250"/>
          </a:xfrm>
          <a:prstGeom prst="straightConnector1">
            <a:avLst/>
          </a:prstGeom>
          <a:ln w="3810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FF38DAF-DFF5-A360-CE22-7DC1371C8697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6163367" y="5583241"/>
            <a:ext cx="1347375" cy="2250"/>
          </a:xfrm>
          <a:prstGeom prst="straightConnector1">
            <a:avLst/>
          </a:prstGeom>
          <a:ln w="3810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637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A1C28-56FF-CD12-5673-A99BADF4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4EDC8-3710-5173-F4F2-A561B3450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/>
                <a:ea typeface="Arial Unicode MS"/>
                <a:cs typeface="Arial"/>
              </a:rPr>
              <a:t>2)”W”</a:t>
            </a:r>
            <a:r>
              <a:rPr lang="ko-KR" altLang="en-US" dirty="0">
                <a:latin typeface="Calibri"/>
                <a:ea typeface="Arial Unicode MS"/>
                <a:cs typeface="Arial"/>
              </a:rPr>
              <a:t>키</a:t>
            </a:r>
            <a:r>
              <a:rPr lang="en-US" altLang="ko-KR" dirty="0">
                <a:latin typeface="Calibri"/>
                <a:ea typeface="Arial Unicode MS"/>
                <a:cs typeface="Arial"/>
              </a:rPr>
              <a:t> </a:t>
            </a:r>
            <a:r>
              <a:rPr lang="ko-KR" altLang="en-US" dirty="0">
                <a:latin typeface="Calibri"/>
                <a:ea typeface="Arial Unicode MS"/>
                <a:cs typeface="Arial"/>
              </a:rPr>
              <a:t>처리</a:t>
            </a:r>
            <a:r>
              <a:rPr lang="en-US" altLang="ko-KR" dirty="0">
                <a:latin typeface="Calibri"/>
                <a:ea typeface="Arial Unicode MS"/>
                <a:cs typeface="Arial"/>
              </a:rPr>
              <a:t>(</a:t>
            </a:r>
            <a:r>
              <a:rPr lang="ko-KR" altLang="en-US" dirty="0">
                <a:latin typeface="Calibri"/>
                <a:ea typeface="Arial Unicode MS"/>
                <a:cs typeface="Arial"/>
              </a:rPr>
              <a:t>블록 회전 처리</a:t>
            </a:r>
            <a:r>
              <a:rPr lang="en-US" altLang="ko-KR" dirty="0">
                <a:latin typeface="Calibri"/>
                <a:ea typeface="Arial Unicode MS"/>
                <a:cs typeface="Arial"/>
              </a:rPr>
              <a:t>) - </a:t>
            </a:r>
            <a:r>
              <a:rPr lang="ko-KR" altLang="en-US" dirty="0" err="1">
                <a:latin typeface="Calibri"/>
                <a:ea typeface="Arial Unicode MS"/>
                <a:cs typeface="Arial"/>
              </a:rPr>
              <a:t>충돌시</a:t>
            </a:r>
            <a:endParaRPr kumimoji="1"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B236C1-39CF-C1F7-F282-DF3D06858230}"/>
              </a:ext>
            </a:extLst>
          </p:cNvPr>
          <p:cNvSpPr txBox="1"/>
          <p:nvPr/>
        </p:nvSpPr>
        <p:spPr>
          <a:xfrm>
            <a:off x="452032" y="1661863"/>
            <a:ext cx="8656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〮 </a:t>
            </a:r>
            <a:r>
              <a:rPr lang="en-US" altLang="ko-KR" dirty="0"/>
              <a:t> </a:t>
            </a:r>
            <a:r>
              <a:rPr lang="ko-KR" altLang="en-US" dirty="0"/>
              <a:t>회전 전상태로 돌아가기 위해 </a:t>
            </a:r>
            <a:r>
              <a:rPr lang="en-US" altLang="ko-KR" dirty="0"/>
              <a:t>degree</a:t>
            </a:r>
            <a:r>
              <a:rPr lang="ko-KR" altLang="en-US" dirty="0"/>
              <a:t>변수에 </a:t>
            </a:r>
            <a:r>
              <a:rPr lang="en-US" altLang="ko-KR" dirty="0"/>
              <a:t>‘-1’</a:t>
            </a:r>
            <a:r>
              <a:rPr lang="ko-KR" altLang="en-US" dirty="0"/>
              <a:t>을 </a:t>
            </a:r>
            <a:r>
              <a:rPr lang="ko-KR" altLang="en-US" dirty="0" err="1"/>
              <a:t>빼줘도</a:t>
            </a:r>
            <a:r>
              <a:rPr lang="ko-KR" altLang="en-US" dirty="0"/>
              <a:t> 되지만</a:t>
            </a:r>
            <a:r>
              <a:rPr lang="en-US" altLang="ko-KR" dirty="0"/>
              <a:t>(</a:t>
            </a:r>
            <a:r>
              <a:rPr lang="ko-KR" altLang="en-US" dirty="0"/>
              <a:t>예외상황 존재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 블록의 주기가 </a:t>
            </a:r>
            <a:r>
              <a:rPr lang="en-US" altLang="ko-KR" dirty="0"/>
              <a:t>4</a:t>
            </a:r>
            <a:r>
              <a:rPr lang="ko-KR" altLang="en-US" dirty="0"/>
              <a:t>이기 때문에 </a:t>
            </a:r>
            <a:r>
              <a:rPr lang="en-US" altLang="ko-KR" dirty="0"/>
              <a:t>‘+3’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계산하였음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8CD04C-6764-0BFD-1920-4071C2B6F7C9}"/>
              </a:ext>
            </a:extLst>
          </p:cNvPr>
          <p:cNvSpPr txBox="1"/>
          <p:nvPr/>
        </p:nvSpPr>
        <p:spPr>
          <a:xfrm>
            <a:off x="246351" y="1373831"/>
            <a:ext cx="656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2.  Rotate </a:t>
            </a:r>
            <a:r>
              <a:rPr kumimoji="1" lang="ko-KR" altLang="en-US" dirty="0"/>
              <a:t>키 입력 시 충돌 </a:t>
            </a:r>
            <a:r>
              <a:rPr kumimoji="1" lang="en-US" altLang="ko-KR" dirty="0"/>
              <a:t>: Indexing</a:t>
            </a:r>
            <a:r>
              <a:rPr kumimoji="1" lang="ko-KR" altLang="en-US" dirty="0"/>
              <a:t>을 통한 블록 변환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4E47783-31A2-CC01-79C9-F104D2DEC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708920"/>
            <a:ext cx="7581110" cy="7374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5188C8C-5894-D72F-54FC-9DC918973DEB}"/>
              </a:ext>
            </a:extLst>
          </p:cNvPr>
          <p:cNvSpPr txBox="1"/>
          <p:nvPr/>
        </p:nvSpPr>
        <p:spPr>
          <a:xfrm>
            <a:off x="246351" y="3954542"/>
            <a:ext cx="8918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/>
              <a:t>파이썬에서는</a:t>
            </a:r>
            <a:r>
              <a:rPr lang="ko-KR" altLang="en-US" sz="1600" b="1" dirty="0"/>
              <a:t> 음수 인덱싱을 허용해주기 때문에 </a:t>
            </a:r>
            <a:r>
              <a:rPr lang="en-US" altLang="ko-KR" sz="1600" b="1" dirty="0" err="1"/>
              <a:t>idxBlockDegree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-1</a:t>
            </a:r>
            <a:r>
              <a:rPr lang="ko-KR" altLang="en-US" sz="1600" b="1" dirty="0"/>
              <a:t>로 저장해줘도 문제 발생 </a:t>
            </a:r>
            <a:r>
              <a:rPr lang="en-US" altLang="ko-KR" sz="1600" b="1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06AA05-A7B5-8E18-E83B-67F2F5D7A48A}"/>
              </a:ext>
            </a:extLst>
          </p:cNvPr>
          <p:cNvSpPr txBox="1"/>
          <p:nvPr/>
        </p:nvSpPr>
        <p:spPr>
          <a:xfrm>
            <a:off x="179512" y="4716468"/>
            <a:ext cx="4554901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&lt;</a:t>
            </a:r>
            <a:r>
              <a:rPr lang="en-US" altLang="ko-KR" b="1" dirty="0" err="1"/>
              <a:t>idxBlockDegree</a:t>
            </a:r>
            <a:r>
              <a:rPr lang="ko-KR" altLang="en-US" b="1" dirty="0"/>
              <a:t>를 추후에 사용 필요시</a:t>
            </a:r>
            <a:r>
              <a:rPr lang="en-US" altLang="ko-KR" b="1" dirty="0"/>
              <a:t>&gt;</a:t>
            </a:r>
          </a:p>
          <a:p>
            <a:endParaRPr lang="en-US" altLang="ko-KR" sz="1500" b="1" dirty="0"/>
          </a:p>
          <a:p>
            <a:r>
              <a:rPr lang="en-US" altLang="ko-KR" sz="1500" dirty="0"/>
              <a:t> 〮 </a:t>
            </a:r>
            <a:r>
              <a:rPr lang="en-US" altLang="ko-KR" sz="1500" dirty="0" err="1"/>
              <a:t>idxBlockDegree</a:t>
            </a:r>
            <a:r>
              <a:rPr lang="en-US" altLang="ko-KR" sz="1500" dirty="0"/>
              <a:t> = (</a:t>
            </a:r>
            <a:r>
              <a:rPr lang="en-US" altLang="ko-KR" sz="1500" dirty="0" err="1"/>
              <a:t>idxBlockDegree</a:t>
            </a:r>
            <a:r>
              <a:rPr lang="en-US" altLang="ko-KR" sz="1500" dirty="0"/>
              <a:t> +3) %4 </a:t>
            </a:r>
          </a:p>
          <a:p>
            <a:endParaRPr lang="en-US" altLang="ko-KR" sz="1500" dirty="0"/>
          </a:p>
          <a:p>
            <a:r>
              <a:rPr lang="en-US" altLang="ko-KR" sz="1500" dirty="0"/>
              <a:t> 〮 </a:t>
            </a:r>
            <a:r>
              <a:rPr lang="en-US" altLang="ko-KR" sz="1500" dirty="0" err="1"/>
              <a:t>idxBlockDegree</a:t>
            </a:r>
            <a:r>
              <a:rPr lang="en-US" altLang="ko-KR" sz="1500" dirty="0"/>
              <a:t> = (</a:t>
            </a:r>
            <a:r>
              <a:rPr lang="en-US" altLang="ko-KR" sz="1500" dirty="0" err="1"/>
              <a:t>idxBlockDegree</a:t>
            </a:r>
            <a:r>
              <a:rPr lang="en-US" altLang="ko-KR" sz="1500" dirty="0"/>
              <a:t> -1) %4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A1FC2-AE4E-AEE0-AB1A-DE601E858E49}"/>
              </a:ext>
            </a:extLst>
          </p:cNvPr>
          <p:cNvSpPr txBox="1"/>
          <p:nvPr/>
        </p:nvSpPr>
        <p:spPr>
          <a:xfrm>
            <a:off x="6228184" y="4725144"/>
            <a:ext cx="302433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&lt;‘+3’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 가능한 이유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en-US" altLang="ko-KR" sz="1500" dirty="0"/>
              <a:t> 0 -&gt; (3%4 = 3)</a:t>
            </a:r>
          </a:p>
          <a:p>
            <a:r>
              <a:rPr lang="en-US" altLang="ko-KR" sz="1500" dirty="0"/>
              <a:t> 1 -&gt; (4%4 = 0)</a:t>
            </a:r>
          </a:p>
          <a:p>
            <a:r>
              <a:rPr lang="en-US" altLang="ko-KR" sz="1500" dirty="0"/>
              <a:t> 2 -&gt; (5%4 = 1)</a:t>
            </a:r>
          </a:p>
          <a:p>
            <a:r>
              <a:rPr lang="en-US" altLang="ko-KR" sz="1500" dirty="0"/>
              <a:t> 3 -&gt; (6%4 = 2)</a:t>
            </a:r>
            <a:endParaRPr lang="ko-KR" altLang="en-US" sz="1500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5F6EF7F-E1B2-1013-94EC-623504C69A7E}"/>
              </a:ext>
            </a:extLst>
          </p:cNvPr>
          <p:cNvSpPr/>
          <p:nvPr/>
        </p:nvSpPr>
        <p:spPr>
          <a:xfrm>
            <a:off x="5183204" y="5095110"/>
            <a:ext cx="576064" cy="504056"/>
          </a:xfrm>
          <a:prstGeom prst="right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3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 Space</a:t>
            </a:r>
            <a:r>
              <a:rPr lang="ko-KR" altLang="en-US" dirty="0"/>
              <a:t>키 처리 </a:t>
            </a:r>
            <a:r>
              <a:rPr lang="en-US" altLang="ko-KR" dirty="0"/>
              <a:t>(</a:t>
            </a:r>
            <a:r>
              <a:rPr lang="ko-KR" altLang="en-US" dirty="0"/>
              <a:t>블록 추락</a:t>
            </a:r>
            <a:r>
              <a:rPr lang="en-US" altLang="ko-KR" dirty="0"/>
              <a:t>)</a:t>
            </a: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9DC5E-605E-CCFC-B894-F1A6843EA2A3}"/>
              </a:ext>
            </a:extLst>
          </p:cNvPr>
          <p:cNvSpPr txBox="1"/>
          <p:nvPr/>
        </p:nvSpPr>
        <p:spPr>
          <a:xfrm>
            <a:off x="459837" y="1281534"/>
            <a:ext cx="6560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1.  Space </a:t>
            </a:r>
            <a:r>
              <a:rPr kumimoji="1" lang="ko-KR" altLang="en-US" dirty="0"/>
              <a:t>키 입력 </a:t>
            </a:r>
            <a:r>
              <a:rPr kumimoji="1" lang="en-US" altLang="ko-KR" dirty="0"/>
              <a:t>: top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1</a:t>
            </a:r>
            <a:r>
              <a:rPr kumimoji="1" lang="ko-KR" altLang="en-US" dirty="0"/>
              <a:t>씩 증가시켜 처리</a:t>
            </a:r>
            <a:endParaRPr kumimoji="1" lang="en-US" altLang="ko-KR" dirty="0"/>
          </a:p>
          <a:p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369438-1FE2-D8D5-BD26-DFAD4B4C4F09}"/>
              </a:ext>
            </a:extLst>
          </p:cNvPr>
          <p:cNvSpPr txBox="1"/>
          <p:nvPr/>
        </p:nvSpPr>
        <p:spPr>
          <a:xfrm>
            <a:off x="658721" y="1857598"/>
            <a:ext cx="7987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〮  </a:t>
            </a:r>
            <a:r>
              <a:rPr lang="en-US" altLang="ko-KR" dirty="0"/>
              <a:t>Matrix.py</a:t>
            </a:r>
            <a:r>
              <a:rPr lang="ko-KR" altLang="en-US" dirty="0"/>
              <a:t>에 현재 줄이 충돌하였는지 알려주는 </a:t>
            </a:r>
            <a:r>
              <a:rPr lang="en-US" altLang="ko-KR" dirty="0" err="1"/>
              <a:t>anyGreaterThan</a:t>
            </a:r>
            <a:r>
              <a:rPr lang="en-US" altLang="ko-KR" dirty="0"/>
              <a:t> </a:t>
            </a:r>
            <a:r>
              <a:rPr lang="ko-KR" altLang="en-US" dirty="0"/>
              <a:t>함수 활용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충돌하기까지 </a:t>
            </a:r>
            <a:r>
              <a:rPr lang="en-US" altLang="ko-KR" dirty="0"/>
              <a:t>top</a:t>
            </a:r>
            <a:r>
              <a:rPr lang="ko-KR" altLang="en-US" dirty="0"/>
              <a:t>을 계속 증가시켜 임시확인용 </a:t>
            </a:r>
            <a:r>
              <a:rPr lang="en-US" altLang="ko-KR" dirty="0" err="1"/>
              <a:t>tempBlk</a:t>
            </a:r>
            <a:r>
              <a:rPr lang="en-US" altLang="ko-KR" dirty="0"/>
              <a:t> </a:t>
            </a:r>
            <a:r>
              <a:rPr lang="ko-KR" altLang="en-US" dirty="0"/>
              <a:t>위치만 조정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C44DE-9F41-96AE-5493-01B4F43B3F4D}"/>
              </a:ext>
            </a:extLst>
          </p:cNvPr>
          <p:cNvSpPr txBox="1"/>
          <p:nvPr/>
        </p:nvSpPr>
        <p:spPr>
          <a:xfrm>
            <a:off x="731497" y="4543960"/>
            <a:ext cx="72747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〮  충돌 시 </a:t>
            </a:r>
            <a:r>
              <a:rPr lang="en-US" altLang="ko-KR" dirty="0"/>
              <a:t>while</a:t>
            </a:r>
            <a:r>
              <a:rPr lang="ko-KR" altLang="en-US" dirty="0"/>
              <a:t>문 탈출</a:t>
            </a:r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top -= 1</a:t>
            </a:r>
          </a:p>
          <a:p>
            <a:r>
              <a:rPr lang="en-US" altLang="ko-KR" dirty="0"/>
              <a:t>     -&gt; </a:t>
            </a:r>
            <a:r>
              <a:rPr lang="ko-KR" altLang="en-US" dirty="0"/>
              <a:t>충돌 후 </a:t>
            </a:r>
            <a:r>
              <a:rPr lang="en-US" altLang="ko-KR" dirty="0"/>
              <a:t>while</a:t>
            </a:r>
            <a:r>
              <a:rPr lang="ko-KR" altLang="en-US" dirty="0"/>
              <a:t>문 탈출하였기에 충돌직전 상태로 돌려줌</a:t>
            </a:r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 err="1"/>
              <a:t>newBlockNeeded</a:t>
            </a:r>
            <a:r>
              <a:rPr lang="en-US" altLang="ko-KR" dirty="0"/>
              <a:t> = True</a:t>
            </a:r>
          </a:p>
          <a:p>
            <a:r>
              <a:rPr lang="en-US" altLang="ko-KR" dirty="0"/>
              <a:t>     -&gt; </a:t>
            </a:r>
            <a:r>
              <a:rPr lang="ko-KR" altLang="en-US" dirty="0"/>
              <a:t>바닥에 블록이 떨어진 후이기에 새로운 블록을 만들어줘야 함</a:t>
            </a:r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9FA834C-AAA3-5399-A261-93A36A161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97" y="2872552"/>
            <a:ext cx="7944959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06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E55A-C691-36B0-7237-99A34829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6DC7D-972C-5195-45FC-F1081ABC0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 Space</a:t>
            </a:r>
            <a:r>
              <a:rPr lang="ko-KR" altLang="en-US" dirty="0"/>
              <a:t>키 처리 </a:t>
            </a:r>
            <a:r>
              <a:rPr lang="en-US" altLang="ko-KR" dirty="0"/>
              <a:t>(</a:t>
            </a:r>
            <a:r>
              <a:rPr lang="ko-KR" altLang="en-US" dirty="0"/>
              <a:t>블록 추락</a:t>
            </a:r>
            <a:r>
              <a:rPr lang="en-US" altLang="ko-KR" dirty="0"/>
              <a:t>)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79C2A37-9C21-D754-9E15-C78BAB4DE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48" y="2780928"/>
            <a:ext cx="1608742" cy="30882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9724B08-E7E0-5212-BE60-566B1A823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5168" y="2780928"/>
            <a:ext cx="1568840" cy="3088211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1A14D55-EC2F-D840-029E-F4B8CCC97685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803590" y="4325033"/>
            <a:ext cx="1271578" cy="1"/>
          </a:xfrm>
          <a:prstGeom prst="straightConnector1">
            <a:avLst/>
          </a:prstGeom>
          <a:ln w="3810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CCB5232-EED7-75EA-C745-B784F7507D1A}"/>
              </a:ext>
            </a:extLst>
          </p:cNvPr>
          <p:cNvSpPr txBox="1"/>
          <p:nvPr/>
        </p:nvSpPr>
        <p:spPr>
          <a:xfrm>
            <a:off x="107295" y="5956538"/>
            <a:ext cx="267984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위치 표시용 </a:t>
            </a:r>
            <a:r>
              <a:rPr lang="en-US" altLang="ko-KR" sz="1500" dirty="0" err="1"/>
              <a:t>tempBlk</a:t>
            </a:r>
            <a:endParaRPr lang="en-US" altLang="ko-KR" sz="1500" dirty="0"/>
          </a:p>
          <a:p>
            <a:r>
              <a:rPr lang="ko-KR" altLang="en-US" sz="1500" dirty="0"/>
              <a:t>화면 표시 </a:t>
            </a:r>
            <a:r>
              <a:rPr lang="en-US" altLang="ko-KR" sz="1500" dirty="0"/>
              <a:t>X</a:t>
            </a:r>
          </a:p>
          <a:p>
            <a:r>
              <a:rPr lang="ko-KR" altLang="en-US" sz="1500" dirty="0"/>
              <a:t>최종 위치를 위해 </a:t>
            </a:r>
            <a:r>
              <a:rPr lang="en-US" altLang="ko-KR" sz="1500" dirty="0"/>
              <a:t>top</a:t>
            </a:r>
            <a:r>
              <a:rPr lang="ko-KR" altLang="en-US" sz="1500" dirty="0"/>
              <a:t>은 바뀜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B0F0D4-6A17-1EE6-6889-295F8F0EF830}"/>
              </a:ext>
            </a:extLst>
          </p:cNvPr>
          <p:cNvSpPr txBox="1"/>
          <p:nvPr/>
        </p:nvSpPr>
        <p:spPr>
          <a:xfrm>
            <a:off x="6348906" y="3429000"/>
            <a:ext cx="28803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&lt;top </a:t>
            </a:r>
            <a:r>
              <a:rPr lang="ko-KR" altLang="en-US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변화 출력</a:t>
            </a:r>
            <a:r>
              <a:rPr lang="en-US" altLang="ko-KR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ko-KR" altLang="en-US" sz="1500" dirty="0"/>
              <a:t>현재 </a:t>
            </a:r>
            <a:r>
              <a:rPr lang="en-US" altLang="ko-KR" sz="1500" dirty="0" err="1"/>
              <a:t>currBlk</a:t>
            </a:r>
            <a:r>
              <a:rPr lang="ko-KR" altLang="en-US" sz="1500" dirty="0"/>
              <a:t>의 세로 길이 </a:t>
            </a:r>
            <a:r>
              <a:rPr lang="en-US" altLang="ko-KR" sz="1500" dirty="0"/>
              <a:t>= 3</a:t>
            </a:r>
          </a:p>
          <a:p>
            <a:r>
              <a:rPr lang="en-US" altLang="ko-KR" sz="1500" dirty="0"/>
              <a:t>Top</a:t>
            </a:r>
            <a:r>
              <a:rPr lang="ko-KR" altLang="en-US" sz="1500" dirty="0"/>
              <a:t>이 </a:t>
            </a:r>
            <a:r>
              <a:rPr lang="en-US" altLang="ko-KR" sz="1500" dirty="0"/>
              <a:t>13</a:t>
            </a:r>
            <a:r>
              <a:rPr lang="ko-KR" altLang="en-US" sz="1500" dirty="0"/>
              <a:t>이 되었을 때 </a:t>
            </a:r>
            <a:endParaRPr lang="en-US" altLang="ko-KR" sz="1500" dirty="0"/>
          </a:p>
          <a:p>
            <a:r>
              <a:rPr lang="ko-KR" altLang="en-US" sz="1500" dirty="0"/>
              <a:t>아래 바닥과 충돌</a:t>
            </a:r>
            <a:endParaRPr lang="en-US" altLang="ko-KR" sz="1500" dirty="0"/>
          </a:p>
          <a:p>
            <a:endParaRPr lang="en-US" altLang="ko-KR" sz="1500" dirty="0"/>
          </a:p>
          <a:p>
            <a:r>
              <a:rPr lang="ko-KR" altLang="en-US" sz="1500" dirty="0"/>
              <a:t>마지막 </a:t>
            </a:r>
            <a:r>
              <a:rPr lang="en-US" altLang="ko-KR" sz="1500" dirty="0"/>
              <a:t>top -= 1 </a:t>
            </a:r>
            <a:r>
              <a:rPr lang="ko-KR" altLang="en-US" sz="1500" dirty="0"/>
              <a:t>수행 시 </a:t>
            </a:r>
            <a:endParaRPr lang="en-US" altLang="ko-KR" sz="1500" dirty="0"/>
          </a:p>
          <a:p>
            <a:r>
              <a:rPr lang="en-US" altLang="ko-KR" sz="1500" dirty="0"/>
              <a:t>“top = 12”</a:t>
            </a:r>
          </a:p>
          <a:p>
            <a:r>
              <a:rPr lang="ko-KR" altLang="en-US" sz="1500" dirty="0"/>
              <a:t>알맞게 작동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1EA4C18-3B13-635D-38A5-AFF622F9D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64" y="2884247"/>
            <a:ext cx="1162212" cy="287695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93D72CE-E5FC-B4AC-FA46-AE027C126C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314" y="1124744"/>
            <a:ext cx="8136540" cy="135361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6686137-793C-C0A4-16EB-44FF0CDFEB4D}"/>
              </a:ext>
            </a:extLst>
          </p:cNvPr>
          <p:cNvSpPr txBox="1"/>
          <p:nvPr/>
        </p:nvSpPr>
        <p:spPr>
          <a:xfrm>
            <a:off x="3003160" y="5956538"/>
            <a:ext cx="1640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Top</a:t>
            </a:r>
            <a:r>
              <a:rPr lang="ko-KR" altLang="en-US" sz="1500" dirty="0"/>
              <a:t>이 </a:t>
            </a:r>
            <a:r>
              <a:rPr lang="en-US" altLang="ko-KR" sz="1500" dirty="0"/>
              <a:t>12</a:t>
            </a:r>
            <a:r>
              <a:rPr lang="ko-KR" altLang="en-US" sz="1500" dirty="0"/>
              <a:t>일 때 </a:t>
            </a:r>
            <a:endParaRPr lang="en-US" altLang="ko-KR" sz="1500" dirty="0"/>
          </a:p>
          <a:p>
            <a:r>
              <a:rPr lang="ko-KR" altLang="en-US" sz="1500" dirty="0"/>
              <a:t>알맞게 추락한 </a:t>
            </a:r>
            <a:endParaRPr lang="en-US" altLang="ko-KR" sz="1500" dirty="0"/>
          </a:p>
          <a:p>
            <a:r>
              <a:rPr lang="ko-KR" altLang="en-US" sz="1500" dirty="0"/>
              <a:t>블록형태 완성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1F15DE-4AE8-D1D1-4D5B-EC0394A3496D}"/>
              </a:ext>
            </a:extLst>
          </p:cNvPr>
          <p:cNvSpPr/>
          <p:nvPr/>
        </p:nvSpPr>
        <p:spPr>
          <a:xfrm>
            <a:off x="842920" y="2125352"/>
            <a:ext cx="792088" cy="1937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49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/>
                <a:ea typeface="Arial Unicode MS"/>
                <a:cs typeface="Arial"/>
              </a:rPr>
              <a:t>4) Full line </a:t>
            </a:r>
            <a:r>
              <a:rPr lang="ko-KR" altLang="en-US" dirty="0">
                <a:latin typeface="Calibri"/>
                <a:ea typeface="Arial Unicode MS"/>
                <a:cs typeface="Arial"/>
              </a:rPr>
              <a:t>삭제</a:t>
            </a: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9DC5E-605E-CCFC-B894-F1A6843EA2A3}"/>
              </a:ext>
            </a:extLst>
          </p:cNvPr>
          <p:cNvSpPr txBox="1"/>
          <p:nvPr/>
        </p:nvSpPr>
        <p:spPr>
          <a:xfrm>
            <a:off x="899592" y="1207868"/>
            <a:ext cx="65604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〮  </a:t>
            </a:r>
            <a:r>
              <a:rPr lang="en-US" altLang="ko-KR" dirty="0"/>
              <a:t>Full line</a:t>
            </a:r>
            <a:r>
              <a:rPr lang="ko-KR" altLang="en-US" dirty="0"/>
              <a:t> 여부 </a:t>
            </a:r>
            <a:r>
              <a:rPr lang="en-US" altLang="ko-KR" dirty="0"/>
              <a:t>(</a:t>
            </a:r>
            <a:r>
              <a:rPr lang="ko-KR" altLang="en-US" dirty="0"/>
              <a:t>간단</a:t>
            </a:r>
            <a:r>
              <a:rPr lang="en-US" altLang="ko-KR" dirty="0"/>
              <a:t>)</a:t>
            </a:r>
          </a:p>
          <a:p>
            <a:r>
              <a:rPr kumimoji="1" lang="en-US" altLang="ko-KR" dirty="0"/>
              <a:t>     -&gt; </a:t>
            </a:r>
            <a:r>
              <a:rPr kumimoji="1" lang="ko-KR" altLang="en-US" dirty="0"/>
              <a:t>현재 줄의 총합이 </a:t>
            </a:r>
            <a:r>
              <a:rPr kumimoji="1" lang="en-US" altLang="ko-KR" dirty="0"/>
              <a:t>dx</a:t>
            </a:r>
            <a:r>
              <a:rPr kumimoji="1" lang="ko-KR" altLang="en-US" dirty="0"/>
              <a:t>보다 작은가</a:t>
            </a:r>
            <a:r>
              <a:rPr kumimoji="1" lang="en-US" altLang="ko-KR" dirty="0"/>
              <a:t>? </a:t>
            </a:r>
          </a:p>
          <a:p>
            <a:r>
              <a:rPr kumimoji="1" lang="en-US" altLang="ko-KR" dirty="0"/>
              <a:t>        - dx</a:t>
            </a:r>
            <a:r>
              <a:rPr kumimoji="1" lang="ko-KR" altLang="en-US" dirty="0"/>
              <a:t>보다 작다면 아직 </a:t>
            </a:r>
            <a:r>
              <a:rPr kumimoji="1" lang="en-US" altLang="ko-KR" dirty="0"/>
              <a:t>Full line</a:t>
            </a:r>
            <a:r>
              <a:rPr kumimoji="1" lang="ko-KR" altLang="en-US" dirty="0"/>
              <a:t>이 아니라고 판단 후 저장</a:t>
            </a:r>
            <a:endParaRPr kumimoji="1" lang="en-US" altLang="ko-KR" dirty="0"/>
          </a:p>
          <a:p>
            <a:r>
              <a:rPr kumimoji="1" lang="en-US" altLang="ko-KR" dirty="0"/>
              <a:t>     -&gt; </a:t>
            </a:r>
            <a:r>
              <a:rPr kumimoji="1" lang="ko-KR" altLang="en-US" dirty="0"/>
              <a:t>현재 줄의 총합이 </a:t>
            </a:r>
            <a:r>
              <a:rPr kumimoji="1" lang="en-US" altLang="ko-KR" dirty="0"/>
              <a:t>dx</a:t>
            </a:r>
            <a:r>
              <a:rPr kumimoji="1" lang="ko-KR" altLang="en-US" dirty="0"/>
              <a:t>보다 크거나 같다면</a:t>
            </a:r>
            <a:r>
              <a:rPr kumimoji="1" lang="en-US" altLang="ko-KR" dirty="0"/>
              <a:t>?</a:t>
            </a:r>
          </a:p>
          <a:p>
            <a:r>
              <a:rPr kumimoji="1" lang="en-US" altLang="ko-KR" dirty="0"/>
              <a:t>        - Full line</a:t>
            </a:r>
            <a:r>
              <a:rPr kumimoji="1" lang="ko-KR" altLang="en-US" dirty="0"/>
              <a:t>으로 판단하여 현재 줄 생략 후 </a:t>
            </a:r>
            <a:endParaRPr kumimoji="1" lang="en-US" altLang="ko-KR" dirty="0"/>
          </a:p>
          <a:p>
            <a:r>
              <a:rPr kumimoji="1" lang="en-US" altLang="ko-KR" dirty="0"/>
              <a:t>          </a:t>
            </a:r>
            <a:r>
              <a:rPr kumimoji="1" lang="ko-KR" altLang="en-US" dirty="0"/>
              <a:t>마지막에 </a:t>
            </a:r>
            <a:r>
              <a:rPr kumimoji="1" lang="en-US" altLang="ko-KR" dirty="0"/>
              <a:t>[0]</a:t>
            </a:r>
            <a:r>
              <a:rPr kumimoji="1" lang="ko-KR" altLang="en-US" dirty="0"/>
              <a:t>으로 채워진 줄 삽입</a:t>
            </a:r>
            <a:endParaRPr kumimoji="1" lang="en-US" altLang="ko-KR" dirty="0"/>
          </a:p>
          <a:p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E7E751F-3AEE-D12A-4B7E-9502765A8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412" y="3115614"/>
            <a:ext cx="4917527" cy="348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394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E60C5-3F72-069C-9617-9DCB5683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25D73-35A3-78B6-F5BE-95685A07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/>
                <a:ea typeface="Arial Unicode MS"/>
                <a:cs typeface="Arial"/>
              </a:rPr>
              <a:t>4) Full line </a:t>
            </a:r>
            <a:r>
              <a:rPr lang="ko-KR" altLang="en-US" dirty="0">
                <a:latin typeface="Calibri"/>
                <a:ea typeface="Arial Unicode MS"/>
                <a:cs typeface="Arial"/>
              </a:rPr>
              <a:t>삭제 </a:t>
            </a:r>
            <a:endParaRPr kumimoji="1" lang="ko-Kore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826711-F8FF-4F8B-D4CB-CC9C55535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52736"/>
            <a:ext cx="2965420" cy="21044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E58D685-9103-FA64-94A9-9331335A2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616640"/>
            <a:ext cx="1583862" cy="30260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F05017B-65C7-D87D-3D8E-937CABA469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264" y="980728"/>
            <a:ext cx="2932216" cy="5618298"/>
          </a:xfrm>
          <a:prstGeom prst="rect">
            <a:avLst/>
          </a:prstGeom>
        </p:spPr>
      </p:pic>
      <p:cxnSp>
        <p:nvCxnSpPr>
          <p:cNvPr id="4" name="직선 화살표 연결선 3"/>
          <p:cNvCxnSpPr/>
          <p:nvPr/>
        </p:nvCxnSpPr>
        <p:spPr>
          <a:xfrm>
            <a:off x="2025713" y="5005666"/>
            <a:ext cx="0" cy="94361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6686137-793C-C0A4-16EB-44FF0CDFEB4D}"/>
              </a:ext>
            </a:extLst>
          </p:cNvPr>
          <p:cNvSpPr txBox="1"/>
          <p:nvPr/>
        </p:nvSpPr>
        <p:spPr>
          <a:xfrm>
            <a:off x="3491880" y="1284181"/>
            <a:ext cx="2376265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가장 아래 </a:t>
            </a:r>
            <a:r>
              <a:rPr lang="en-US" altLang="ko-KR" sz="1500" dirty="0"/>
              <a:t>15</a:t>
            </a:r>
            <a:r>
              <a:rPr lang="ko-KR" altLang="en-US" sz="1500" dirty="0"/>
              <a:t>번째 줄부터 확인</a:t>
            </a:r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r>
              <a:rPr lang="ko-KR" altLang="en-US" sz="1500" dirty="0"/>
              <a:t>현재 </a:t>
            </a:r>
            <a:r>
              <a:rPr lang="en-US" altLang="ko-KR" sz="1500" dirty="0"/>
              <a:t>15</a:t>
            </a:r>
            <a:r>
              <a:rPr lang="ko-KR" altLang="en-US" sz="1500" dirty="0"/>
              <a:t>번째 줄은 </a:t>
            </a:r>
            <a:endParaRPr lang="en-US" altLang="ko-KR" sz="1500" dirty="0"/>
          </a:p>
          <a:p>
            <a:r>
              <a:rPr lang="en-US" altLang="ko-KR" sz="1500" dirty="0"/>
              <a:t>Sum(</a:t>
            </a:r>
            <a:r>
              <a:rPr lang="en-US" altLang="ko-KR" sz="1500" dirty="0" err="1"/>
              <a:t>line.get_array</a:t>
            </a:r>
            <a:r>
              <a:rPr lang="en-US" altLang="ko-KR" sz="1500" dirty="0"/>
              <a:t>()[0]) == dx </a:t>
            </a:r>
            <a:r>
              <a:rPr lang="ko-KR" altLang="en-US" sz="1500" dirty="0"/>
              <a:t>이기 때문에 </a:t>
            </a:r>
            <a:endParaRPr lang="en-US" altLang="ko-KR" sz="1500" dirty="0"/>
          </a:p>
          <a:p>
            <a:r>
              <a:rPr lang="en-US" altLang="ko-KR" sz="1500" dirty="0" err="1"/>
              <a:t>Lines.append</a:t>
            </a:r>
            <a:r>
              <a:rPr lang="en-US" altLang="ko-KR" sz="1500" dirty="0"/>
              <a:t>(line) </a:t>
            </a:r>
            <a:r>
              <a:rPr lang="ko-KR" altLang="en-US" sz="1500" dirty="0"/>
              <a:t>실행 </a:t>
            </a:r>
            <a:r>
              <a:rPr lang="en-US" altLang="ko-KR" sz="1500" dirty="0"/>
              <a:t>X </a:t>
            </a:r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r>
              <a:rPr lang="ko-KR" altLang="en-US" sz="1500" dirty="0"/>
              <a:t>위와 같이 </a:t>
            </a:r>
            <a:r>
              <a:rPr lang="en-US" altLang="ko-KR" sz="1500" dirty="0"/>
              <a:t>append</a:t>
            </a:r>
            <a:r>
              <a:rPr lang="ko-KR" altLang="en-US" sz="1500" dirty="0"/>
              <a:t>하지 </a:t>
            </a:r>
            <a:endParaRPr lang="en-US" altLang="ko-KR" sz="1500" dirty="0"/>
          </a:p>
          <a:p>
            <a:r>
              <a:rPr lang="ko-KR" altLang="en-US" sz="1500" dirty="0"/>
              <a:t>못하는</a:t>
            </a:r>
            <a:r>
              <a:rPr lang="en-US" altLang="ko-KR" sz="1500" dirty="0"/>
              <a:t> </a:t>
            </a:r>
            <a:r>
              <a:rPr lang="ko-KR" altLang="en-US" sz="1500" dirty="0"/>
              <a:t>행이 있기에 </a:t>
            </a:r>
            <a:endParaRPr lang="en-US" altLang="ko-KR" sz="1500" dirty="0"/>
          </a:p>
          <a:p>
            <a:r>
              <a:rPr lang="ko-KR" altLang="en-US" sz="1500" dirty="0"/>
              <a:t>아래에서 </a:t>
            </a:r>
            <a:r>
              <a:rPr lang="en-US" altLang="ko-KR" sz="1500" dirty="0"/>
              <a:t>[0]</a:t>
            </a:r>
            <a:r>
              <a:rPr lang="ko-KR" altLang="en-US" sz="1500" dirty="0"/>
              <a:t>으로 </a:t>
            </a:r>
            <a:endParaRPr lang="en-US" altLang="ko-KR" sz="1500" dirty="0"/>
          </a:p>
          <a:p>
            <a:r>
              <a:rPr lang="ko-KR" altLang="en-US" sz="1500" dirty="0"/>
              <a:t>가득 찬 행으로</a:t>
            </a:r>
            <a:r>
              <a:rPr lang="en-US" altLang="ko-KR" sz="1500" dirty="0"/>
              <a:t> </a:t>
            </a:r>
          </a:p>
          <a:p>
            <a:r>
              <a:rPr lang="en-US" altLang="ko-KR" sz="1500" dirty="0"/>
              <a:t>15</a:t>
            </a:r>
            <a:r>
              <a:rPr lang="ko-KR" altLang="en-US" sz="1500" dirty="0"/>
              <a:t>개 행을 만들어 줌</a:t>
            </a:r>
            <a:endParaRPr lang="en-US" altLang="ko-KR" sz="1500" dirty="0"/>
          </a:p>
          <a:p>
            <a:endParaRPr lang="en-US" altLang="ko-KR" sz="1500" dirty="0"/>
          </a:p>
          <a:p>
            <a:endParaRPr lang="ko-KR" altLang="en-US" sz="1500" dirty="0"/>
          </a:p>
        </p:txBody>
      </p:sp>
      <p:sp>
        <p:nvSpPr>
          <p:cNvPr id="38" name="아래쪽 화살표 37"/>
          <p:cNvSpPr/>
          <p:nvPr/>
        </p:nvSpPr>
        <p:spPr>
          <a:xfrm flipV="1">
            <a:off x="1676134" y="3242918"/>
            <a:ext cx="216024" cy="288032"/>
          </a:xfrm>
          <a:prstGeom prst="down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오른쪽 화살표 42"/>
          <p:cNvSpPr/>
          <p:nvPr/>
        </p:nvSpPr>
        <p:spPr>
          <a:xfrm>
            <a:off x="3905328" y="5762418"/>
            <a:ext cx="792088" cy="373723"/>
          </a:xfrm>
          <a:prstGeom prst="right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26118" y="1550529"/>
            <a:ext cx="1807929" cy="21602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05297" y="2342981"/>
            <a:ext cx="2376264" cy="2156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7" name="직선 화살표 연결선 46"/>
          <p:cNvCxnSpPr>
            <a:cxnSpLocks/>
          </p:cNvCxnSpPr>
          <p:nvPr/>
        </p:nvCxnSpPr>
        <p:spPr>
          <a:xfrm>
            <a:off x="2634047" y="1628800"/>
            <a:ext cx="1157491" cy="822011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cxnSpLocks/>
          </p:cNvCxnSpPr>
          <p:nvPr/>
        </p:nvCxnSpPr>
        <p:spPr>
          <a:xfrm>
            <a:off x="2981561" y="2427181"/>
            <a:ext cx="656451" cy="1655390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74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5) Performance and Discussion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80511-04B2-A740-E1A3-3D1E566EF742}"/>
              </a:ext>
            </a:extLst>
          </p:cNvPr>
          <p:cNvSpPr txBox="1"/>
          <p:nvPr/>
        </p:nvSpPr>
        <p:spPr>
          <a:xfrm>
            <a:off x="683568" y="126876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en-US" altLang="ko-KR" dirty="0">
                <a:solidFill>
                  <a:srgbClr val="000000"/>
                </a:solidFill>
                <a:highlight>
                  <a:srgbClr val="FDFDFD"/>
                </a:highlight>
              </a:rPr>
              <a:t>n*n </a:t>
            </a:r>
            <a:r>
              <a:rPr lang="ko-KR" altLang="en-US" dirty="0">
                <a:solidFill>
                  <a:srgbClr val="000000"/>
                </a:solidFill>
                <a:highlight>
                  <a:srgbClr val="FDFDFD"/>
                </a:highlight>
              </a:rPr>
              <a:t>블록으로 고정되어 있어 시작 시 띄워져서 블록 생성되는 경우가 있음</a:t>
            </a:r>
            <a:endParaRPr lang="en-US" altLang="ko-KR" dirty="0">
              <a:solidFill>
                <a:srgbClr val="000000"/>
              </a:solidFill>
              <a:highlight>
                <a:srgbClr val="FDFDFD"/>
              </a:highlight>
            </a:endParaRPr>
          </a:p>
          <a:p>
            <a:pPr marL="285750" indent="-285750" algn="l">
              <a:buFont typeface="Wingdings" panose="05000000000000000000" pitchFamily="2" charset="2"/>
              <a:buChar char="n"/>
            </a:pPr>
            <a:endParaRPr lang="en-US" altLang="ko-KR" dirty="0">
              <a:solidFill>
                <a:srgbClr val="000000"/>
              </a:solidFill>
              <a:highlight>
                <a:srgbClr val="FDFDFD"/>
              </a:highlight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4108CF-270E-CD23-8172-868A054EF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76" y="2420888"/>
            <a:ext cx="4880788" cy="13040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5E3A10-1E47-3B4E-FFA7-E67A6131740F}"/>
              </a:ext>
            </a:extLst>
          </p:cNvPr>
          <p:cNvSpPr txBox="1"/>
          <p:nvPr/>
        </p:nvSpPr>
        <p:spPr>
          <a:xfrm>
            <a:off x="775212" y="4043651"/>
            <a:ext cx="6173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오른쪽 문제를 해결하기위해 위와 같은 함수를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여전히 오류 발생가능성 확인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게임화면의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위쪽에 버퍼를 생성하면 완벽하게 해결가능</a:t>
            </a:r>
            <a:endParaRPr lang="en-US" altLang="ko-K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3A07043-38BE-D60D-6F87-B6FA72457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14" y="3549582"/>
            <a:ext cx="1064180" cy="204434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BAC99D5-D8B8-457F-BEE8-6761DB517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119" y="1759338"/>
            <a:ext cx="1400370" cy="914528"/>
          </a:xfrm>
          <a:prstGeom prst="rect">
            <a:avLst/>
          </a:prstGeom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8F89DBEA-0622-AB0C-56B0-683B988982DB}"/>
              </a:ext>
            </a:extLst>
          </p:cNvPr>
          <p:cNvSpPr/>
          <p:nvPr/>
        </p:nvSpPr>
        <p:spPr>
          <a:xfrm>
            <a:off x="7770200" y="2823692"/>
            <a:ext cx="474208" cy="576064"/>
          </a:xfrm>
          <a:prstGeom prst="down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8B494-20EB-DA31-9709-EEFC5024DFE1}"/>
              </a:ext>
            </a:extLst>
          </p:cNvPr>
          <p:cNvSpPr txBox="1"/>
          <p:nvPr/>
        </p:nvSpPr>
        <p:spPr>
          <a:xfrm>
            <a:off x="7465054" y="5601146"/>
            <a:ext cx="10641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/>
              <a:t>초기블록</a:t>
            </a:r>
            <a:endParaRPr lang="en-US" altLang="ko-KR" sz="1500" dirty="0"/>
          </a:p>
          <a:p>
            <a:pPr algn="ctr"/>
            <a:r>
              <a:rPr lang="ko-KR" altLang="en-US" sz="1500" dirty="0"/>
              <a:t>생성 화면</a:t>
            </a:r>
          </a:p>
        </p:txBody>
      </p:sp>
    </p:spTree>
    <p:extLst>
      <p:ext uri="{BB962C8B-B14F-4D97-AF65-F5344CB8AC3E}">
        <p14:creationId xmlns:p14="http://schemas.microsoft.com/office/powerpoint/2010/main" val="1219601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F533B-F241-455A-490A-3EA0EEFE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1E012-2E57-8727-E376-69386A0F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5) Performance and Discussion(2)</a:t>
            </a: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9CACF-BA68-E22E-D009-779754142686}"/>
              </a:ext>
            </a:extLst>
          </p:cNvPr>
          <p:cNvSpPr txBox="1"/>
          <p:nvPr/>
        </p:nvSpPr>
        <p:spPr>
          <a:xfrm>
            <a:off x="683568" y="1233334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en-US" altLang="ko-KR" dirty="0">
                <a:solidFill>
                  <a:srgbClr val="000000"/>
                </a:solidFill>
                <a:highlight>
                  <a:srgbClr val="FDFDFD"/>
                </a:highlight>
              </a:rPr>
              <a:t>Line clear </a:t>
            </a:r>
            <a:r>
              <a:rPr lang="ko-KR" altLang="en-US" dirty="0">
                <a:solidFill>
                  <a:srgbClr val="000000"/>
                </a:solidFill>
                <a:highlight>
                  <a:srgbClr val="FDFDFD"/>
                </a:highlight>
              </a:rPr>
              <a:t>후 재정렬 처리 비용이 매우 크다고 판단</a:t>
            </a:r>
            <a:endParaRPr lang="en-US" altLang="ko-KR" dirty="0">
              <a:solidFill>
                <a:srgbClr val="000000"/>
              </a:solidFill>
              <a:highlight>
                <a:srgbClr val="FDFDFD"/>
              </a:highlight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D8B42A6-1D99-2947-4F66-C818D908A7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946"/>
          <a:stretch/>
        </p:blipFill>
        <p:spPr>
          <a:xfrm>
            <a:off x="861446" y="1673135"/>
            <a:ext cx="2460562" cy="21240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FBBE2C-D80D-572B-0FF5-2CA243E025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80"/>
          <a:stretch/>
        </p:blipFill>
        <p:spPr>
          <a:xfrm>
            <a:off x="926546" y="4298066"/>
            <a:ext cx="2330362" cy="2443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BCA8F5-6D24-1685-7452-85BEB3A4F499}"/>
              </a:ext>
            </a:extLst>
          </p:cNvPr>
          <p:cNvSpPr txBox="1"/>
          <p:nvPr/>
        </p:nvSpPr>
        <p:spPr>
          <a:xfrm>
            <a:off x="3851920" y="2183953"/>
            <a:ext cx="47525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현재 </a:t>
            </a:r>
            <a:r>
              <a:rPr lang="en-US" altLang="ko-KR" dirty="0" err="1"/>
              <a:t>line_clear</a:t>
            </a:r>
            <a:r>
              <a:rPr lang="en-US" altLang="ko-KR" dirty="0"/>
              <a:t> </a:t>
            </a:r>
            <a:r>
              <a:rPr lang="ko-KR" altLang="en-US" dirty="0"/>
              <a:t>함수는</a:t>
            </a:r>
            <a:r>
              <a:rPr lang="en-US" altLang="ko-KR" dirty="0"/>
              <a:t> </a:t>
            </a:r>
            <a:r>
              <a:rPr lang="ko-KR" altLang="en-US" dirty="0"/>
              <a:t>줄 삭제 후 화면 전체 </a:t>
            </a:r>
            <a:r>
              <a:rPr lang="en-US" altLang="ko-KR" dirty="0"/>
              <a:t>(15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r>
              <a:rPr lang="ko-KR" altLang="en-US" dirty="0"/>
              <a:t>의 배열 새로 생성 후 </a:t>
            </a:r>
            <a:endParaRPr lang="en-US" altLang="ko-KR" dirty="0"/>
          </a:p>
          <a:p>
            <a:r>
              <a:rPr lang="ko-KR" altLang="en-US" dirty="0"/>
              <a:t>이를 다시 </a:t>
            </a:r>
            <a:r>
              <a:rPr lang="en-US" altLang="ko-KR" dirty="0" err="1"/>
              <a:t>Matrix.paste</a:t>
            </a:r>
            <a:r>
              <a:rPr lang="en-US" altLang="ko-KR" dirty="0"/>
              <a:t>()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붙이는 방식</a:t>
            </a:r>
            <a:endParaRPr lang="en-US" altLang="ko-KR" dirty="0"/>
          </a:p>
          <a:p>
            <a:r>
              <a:rPr lang="ko-KR" altLang="en-US" dirty="0"/>
              <a:t>매번 새로운 </a:t>
            </a:r>
            <a:r>
              <a:rPr lang="en-US" altLang="ko-KR" dirty="0"/>
              <a:t>MATRIX </a:t>
            </a:r>
            <a:r>
              <a:rPr lang="ko-KR" altLang="en-US" dirty="0"/>
              <a:t>객체 생성</a:t>
            </a:r>
            <a:endParaRPr lang="en-US" altLang="ko-KR" dirty="0"/>
          </a:p>
          <a:p>
            <a:r>
              <a:rPr lang="en-US" altLang="ko-KR" dirty="0"/>
              <a:t>Clip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paste </a:t>
            </a:r>
            <a:r>
              <a:rPr lang="ko-KR" altLang="en-US" dirty="0"/>
              <a:t>연산의 반복은</a:t>
            </a:r>
            <a:endParaRPr lang="en-US" altLang="ko-KR" dirty="0"/>
          </a:p>
          <a:p>
            <a:r>
              <a:rPr lang="ko-KR" altLang="en-US" dirty="0"/>
              <a:t>불필요한 메모리 복사와 객체를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줄을 지우기 위해 매번 화면 전체를 </a:t>
            </a:r>
            <a:endParaRPr lang="en-US" altLang="ko-KR" dirty="0"/>
          </a:p>
          <a:p>
            <a:r>
              <a:rPr lang="ko-KR" altLang="en-US" dirty="0"/>
              <a:t>다시 만드는 비효율적인 구조</a:t>
            </a:r>
            <a:r>
              <a:rPr lang="en-US" altLang="ko-KR" dirty="0"/>
              <a:t> +</a:t>
            </a:r>
            <a:r>
              <a:rPr lang="ko-KR" altLang="en-US" dirty="0"/>
              <a:t>너무 큰 비용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Queue </a:t>
            </a:r>
            <a:r>
              <a:rPr lang="ko-KR" altLang="en-US" dirty="0">
                <a:solidFill>
                  <a:srgbClr val="FF0000"/>
                </a:solidFill>
              </a:rPr>
              <a:t>혹은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로 가득 찬 열만 비우는 방식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등 다른 효율적인 방식 사용 필요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7CD3DD5-A918-6628-2A39-479618FCD6FA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091727" y="3797227"/>
            <a:ext cx="0" cy="500839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157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1027" name="Picture 3" descr="C:\Users\Kilho Lee\Dropbox\Research documents\Lab_misc\연구실로고\MISYS 세로-컬러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76" y="2276872"/>
            <a:ext cx="2195944" cy="176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54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85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Calibri" pitchFamily="34" charset="0"/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D0D0D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732</Words>
  <Application>Microsoft Office PowerPoint</Application>
  <PresentationFormat>화면 슬라이드 쇼(4:3)</PresentationFormat>
  <Paragraphs>135</Paragraphs>
  <Slides>14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Wingdings</vt:lpstr>
      <vt:lpstr>Office 테마</vt:lpstr>
      <vt:lpstr>TETRIS (Python) P#1 Progress Report 2025.06.30</vt:lpstr>
      <vt:lpstr>Outline</vt:lpstr>
      <vt:lpstr>1. Random Selection of 7 Blocks – 방식 선정</vt:lpstr>
      <vt:lpstr>1. Random Selection of 7 Blocks - 과정</vt:lpstr>
      <vt:lpstr>1. Random Selection of 7 Blocks – 랜덤블록 선정</vt:lpstr>
      <vt:lpstr>2)”W”키 처리(블록 회전 처리)</vt:lpstr>
      <vt:lpstr>2)”W”키 처리(블록 회전 처리) - 충돌시</vt:lpstr>
      <vt:lpstr>3) Space키 처리 (블록 추락)</vt:lpstr>
      <vt:lpstr>3) Space키 처리 (블록 추락)</vt:lpstr>
      <vt:lpstr>4) Full line 삭제</vt:lpstr>
      <vt:lpstr>4) Full line 삭제 </vt:lpstr>
      <vt:lpstr>5) Performance and Discussion</vt:lpstr>
      <vt:lpstr>5) Performance and Discussion(2)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TETRIS (Python) P#1 Progress Report 2025.06.29</dc:title>
  <dc:creator>Administrator</dc:creator>
  <cp:lastModifiedBy>김찬형</cp:lastModifiedBy>
  <cp:revision>25</cp:revision>
  <dcterms:created xsi:type="dcterms:W3CDTF">2022-07-04T05:58:26Z</dcterms:created>
  <dcterms:modified xsi:type="dcterms:W3CDTF">2025-06-30T01:24:27Z</dcterms:modified>
</cp:coreProperties>
</file>