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604" r:id="rId3"/>
    <p:sldId id="668" r:id="rId4"/>
    <p:sldId id="682" r:id="rId5"/>
    <p:sldId id="684" r:id="rId6"/>
    <p:sldId id="683" r:id="rId7"/>
    <p:sldId id="692" r:id="rId8"/>
    <p:sldId id="685" r:id="rId9"/>
    <p:sldId id="693" r:id="rId10"/>
    <p:sldId id="686" r:id="rId11"/>
    <p:sldId id="669" r:id="rId12"/>
    <p:sldId id="681" r:id="rId13"/>
    <p:sldId id="678" r:id="rId14"/>
    <p:sldId id="690" r:id="rId15"/>
    <p:sldId id="691" r:id="rId16"/>
    <p:sldId id="603" r:id="rId17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CC3300"/>
    <a:srgbClr val="BFBFBF"/>
    <a:srgbClr val="FDE8BF"/>
    <a:srgbClr val="3988A1"/>
    <a:srgbClr val="0D0D0D"/>
    <a:srgbClr val="F9C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5026" autoAdjust="0"/>
  </p:normalViewPr>
  <p:slideViewPr>
    <p:cSldViewPr>
      <p:cViewPr varScale="1">
        <p:scale>
          <a:sx n="78" d="100"/>
          <a:sy n="78" d="100"/>
        </p:scale>
        <p:origin x="16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0" y="422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080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35B8F-D6B8-4B1A-BED5-DBBA10E46047}" type="datetimeFigureOut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B4096-A3A2-4F30-BA97-9793FEF49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4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15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 algn="r">
              <a:defRPr sz="320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644B-26F1-4A77-80B4-864CA05B8475}" type="datetime1">
              <a:rPr lang="ko-KR" altLang="en-US" smtClean="0"/>
              <a:t>2025-06-30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41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 sz="1600">
                <a:latin typeface="Calibri" panose="020F0502020204030204" pitchFamily="34" charset="0"/>
                <a:cs typeface="Times New Roman" panose="02020603050405020304" pitchFamily="18" charset="0"/>
              </a:defRPr>
            </a:lvl2pPr>
            <a:lvl3pPr>
              <a:defRPr sz="1400"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>
              <a:defRPr sz="1200"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>
              <a:defRPr sz="1100">
                <a:latin typeface="Calibri" panose="020F0502020204030204" pitchFamily="34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A0DF-1D7A-48E6-A273-4781B29FC3A2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6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39C-9C54-4D59-B63B-6A40A62DDA1D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34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800-C452-4BB4-A29E-1C525AD1212C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0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696B-9AD2-44FF-BD2C-41BB452FE4A1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03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C143-B4F5-4116-B5F3-D83AE60017C9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8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BDB4-7A29-41E6-A346-B23989C956FF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6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8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53D-6090-4BEC-A9F8-8A6C8FC86260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35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2BAD-40F7-494C-9C1B-FB21063E74DF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6FA3-784D-405C-B6FF-9C59F33B3B76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7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A628-0F48-49DD-B493-CEE122CBE4E3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00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4631-7260-4D4B-B3D4-7EB9234DBA31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7452320" y="0"/>
            <a:ext cx="1691680" cy="1691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7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A4631-7260-4D4B-B3D4-7EB9234DBA31}" type="datetime1">
              <a:rPr lang="ko-KR" altLang="en-US" smtClean="0"/>
              <a:t>2025-06-30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https://lh3.googleusercontent.com/7G5NeQaGWmu01aZuzBN_jiCGqCDE7K5O5eT9dAI2oTRIleTQ1ZvQStLFLybGdWJpsRLjc-ihlfhXlahZ-NP8vJHuH2PR9wRRX8KpZQxeld-u0W6Fuw=w1280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73" y="121196"/>
            <a:ext cx="146868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lh3.googleusercontent.com/HKTsDQnD5XDpENfjlrGI0oK4fnM6tz3yUgSN00wgKjgtsgfo32sBuriKTsuTV7vI8iKOmSGJaBZESUATbvat2CPWxBdpat2GxJ4xHApashfSLjrW-4s=w1280"/>
          <p:cNvPicPr>
            <a:picLocks noChangeAspect="1" noChangeArrowheads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42978" y="465791"/>
            <a:ext cx="593518" cy="2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26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b="1" kern="1200">
          <a:solidFill>
            <a:srgbClr val="0070C0"/>
          </a:solidFill>
          <a:latin typeface="Calibri" panose="020F0502020204030204" pitchFamily="34" charset="0"/>
          <a:ea typeface="Arial Unicode MS" panose="020B0604020202020204" pitchFamily="50" charset="-127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2130430"/>
            <a:ext cx="8136904" cy="1470025"/>
          </a:xfrm>
        </p:spPr>
        <p:txBody>
          <a:bodyPr>
            <a:noAutofit/>
          </a:bodyPr>
          <a:lstStyle/>
          <a:p>
            <a:r>
              <a:rPr lang="en-US" altLang="ko-KR" sz="2800" dirty="0"/>
              <a:t>TETRIS</a:t>
            </a:r>
            <a:r>
              <a:rPr lang="ko-KR" altLang="en-US" sz="2800" dirty="0"/>
              <a:t> </a:t>
            </a:r>
            <a:r>
              <a:rPr lang="en-US" altLang="ko-KR" sz="2800" dirty="0"/>
              <a:t>(Python) P#2</a:t>
            </a:r>
            <a:br>
              <a:rPr lang="en-US" altLang="ko-KR" sz="2800" dirty="0"/>
            </a:br>
            <a:r>
              <a:rPr lang="en-US" altLang="ko-KR" sz="2000" dirty="0"/>
              <a:t>Progress Report 2025.06.30</a:t>
            </a:r>
            <a:endParaRPr lang="ko-KR" altLang="en-US" sz="2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7992888" cy="1512168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</a:rPr>
              <a:t>Chan Hyung Kim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School of AI Convergence, SSU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4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300" dirty="0"/>
              <a:t>Problems and Requirements</a:t>
            </a:r>
          </a:p>
          <a:p>
            <a:pPr marL="457200" indent="-457200">
              <a:buFont typeface="+mj-lt"/>
              <a:buAutoNum type="arabicPeriod"/>
            </a:pPr>
            <a:endParaRPr lang="en-US" altLang="ko-KR" sz="2300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sz="2300" dirty="0"/>
              <a:t>Implementation </a:t>
            </a:r>
            <a:endParaRPr lang="en-US" altLang="ko-KR" sz="2100" dirty="0"/>
          </a:p>
          <a:p>
            <a:endParaRPr lang="ko-KR" altLang="en-US" sz="23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1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1. Problems and Requirements</a:t>
            </a: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D516E6-3D2C-29C7-8CDC-A714694E8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813AB-9243-56CA-A894-E85189C0E2C2}"/>
              </a:ext>
            </a:extLst>
          </p:cNvPr>
          <p:cNvSpPr txBox="1"/>
          <p:nvPr/>
        </p:nvSpPr>
        <p:spPr>
          <a:xfrm>
            <a:off x="457200" y="1484784"/>
            <a:ext cx="65604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v1: Tetris </a:t>
            </a:r>
            <a:r>
              <a:rPr lang="ko-KR" altLang="en-US" dirty="0"/>
              <a:t>클래스 작성 </a:t>
            </a:r>
            <a:r>
              <a:rPr lang="en-US" altLang="ko-KR" dirty="0"/>
              <a:t>: Static, Dynamic member </a:t>
            </a:r>
            <a:r>
              <a:rPr lang="ko-KR" altLang="en-US" dirty="0"/>
              <a:t>구분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v2: Tetris </a:t>
            </a:r>
            <a:r>
              <a:rPr lang="ko-KR" altLang="en-US" dirty="0"/>
              <a:t>클래스 검증 </a:t>
            </a:r>
            <a:r>
              <a:rPr lang="en-US" altLang="ko-KR" dirty="0"/>
              <a:t>(</a:t>
            </a:r>
            <a:r>
              <a:rPr lang="ko-KR" altLang="en-US" dirty="0"/>
              <a:t>복수 객체</a:t>
            </a:r>
            <a:r>
              <a:rPr lang="en-US" altLang="ko-KR" dirty="0"/>
              <a:t>) 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v3: Tetris </a:t>
            </a:r>
            <a:r>
              <a:rPr lang="ko-KR" altLang="en-US" dirty="0"/>
              <a:t>클래스의 </a:t>
            </a:r>
            <a:r>
              <a:rPr lang="en-US" altLang="ko-KR" dirty="0"/>
              <a:t>accept() </a:t>
            </a:r>
            <a:r>
              <a:rPr lang="ko-KR" altLang="en-US" dirty="0"/>
              <a:t>인자를 하나로 통합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v4: Tetris </a:t>
            </a:r>
            <a:r>
              <a:rPr lang="ko-KR" altLang="en-US" dirty="0"/>
              <a:t>클래스에 </a:t>
            </a:r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ko-KR" altLang="en-US" dirty="0"/>
              <a:t>타입 적용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77338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spc="-1" dirty="0">
                <a:latin typeface="Calibri"/>
                <a:ea typeface="Arial Unicode MS"/>
              </a:rPr>
            </a:br>
            <a:br>
              <a:rPr lang="en-US" altLang="ko-KR" spc="-1" dirty="0">
                <a:latin typeface="Calibri"/>
                <a:ea typeface="Arial Unicode MS"/>
              </a:rPr>
            </a:br>
            <a:r>
              <a:rPr lang="en-US" altLang="ko-KR" spc="-1" dirty="0">
                <a:latin typeface="Calibri"/>
                <a:ea typeface="Arial Unicode MS"/>
              </a:rPr>
              <a:t>1. Implementation </a:t>
            </a:r>
            <a:r>
              <a:rPr lang="en-US" altLang="ko-KR" sz="2000" spc="-1" dirty="0">
                <a:latin typeface="Calibri"/>
                <a:ea typeface="Arial Unicode MS"/>
              </a:rPr>
              <a:t>- </a:t>
            </a:r>
            <a:r>
              <a:rPr lang="en-US" altLang="ko-KR" sz="2000" spc="-1" dirty="0">
                <a:ea typeface="Arial Unicode MS"/>
                <a:cs typeface="Calibri" panose="020F0502020204030204" pitchFamily="34" charset="0"/>
              </a:rPr>
              <a:t>v1: Tetris </a:t>
            </a:r>
            <a:r>
              <a:rPr lang="ko-KR" altLang="en-US" sz="2000" spc="-1" dirty="0">
                <a:latin typeface="Malgun Gothic" panose="020B0503020000020004" pitchFamily="34" charset="-127"/>
                <a:ea typeface="Malgun Gothic" panose="020B0503020000020004" pitchFamily="34" charset="-127"/>
                <a:cs typeface="Calibri" panose="020F0502020204030204" pitchFamily="34" charset="0"/>
              </a:rPr>
              <a:t>클래스 작성</a:t>
            </a:r>
            <a:br>
              <a:rPr lang="ko-KR" altLang="en-US" spc="-1" dirty="0">
                <a:latin typeface="Calibri"/>
                <a:ea typeface="Arial Unicode MS"/>
              </a:rPr>
            </a:br>
            <a:br>
              <a:rPr lang="ko-KR" altLang="en-US" spc="-1" dirty="0">
                <a:latin typeface="Calibri"/>
                <a:ea typeface="Arial Unicode MS"/>
              </a:rPr>
            </a:br>
            <a:br>
              <a:rPr lang="ko-KR" altLang="en-US" dirty="0"/>
            </a:br>
            <a:endParaRPr kumimoji="1" lang="ko-Kore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105F99-AF29-ECD9-FF97-C490763A7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708920"/>
            <a:ext cx="5400600" cy="1709869"/>
          </a:xfrm>
          <a:prstGeom prst="rect">
            <a:avLst/>
          </a:prstGeom>
        </p:spPr>
      </p:pic>
      <p:sp>
        <p:nvSpPr>
          <p:cNvPr id="10" name="PlaceHolder 2">
            <a:extLst>
              <a:ext uri="{FF2B5EF4-FFF2-40B4-BE49-F238E27FC236}">
                <a16:creationId xmlns:a16="http://schemas.microsoft.com/office/drawing/2014/main" id="{AB2CA447-EA09-588F-FCBC-812A80792682}"/>
              </a:ext>
            </a:extLst>
          </p:cNvPr>
          <p:cNvSpPr txBox="1">
            <a:spLocks/>
          </p:cNvSpPr>
          <p:nvPr/>
        </p:nvSpPr>
        <p:spPr>
          <a:xfrm>
            <a:off x="671848" y="5139260"/>
            <a:ext cx="8229240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en-US" sz="1800" b="0" spc="-1" dirty="0">
                <a:solidFill>
                  <a:srgbClr val="000000"/>
                </a:solidFill>
                <a:latin typeface="Calibri"/>
              </a:rPr>
              <a:t>2. </a:t>
            </a:r>
            <a:r>
              <a:rPr lang="en-US" sz="1800" b="0" spc="-1" dirty="0" err="1">
                <a:solidFill>
                  <a:srgbClr val="000000"/>
                </a:solidFill>
                <a:latin typeface="Calibri"/>
              </a:rPr>
              <a:t>TetrisState</a:t>
            </a:r>
            <a:r>
              <a:rPr lang="en-US" sz="1800" b="0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800" b="0" spc="-1" dirty="0">
                <a:solidFill>
                  <a:srgbClr val="FF0000"/>
                </a:solidFill>
                <a:latin typeface="Calibri"/>
              </a:rPr>
              <a:t>v4</a:t>
            </a:r>
            <a:r>
              <a:rPr lang="ko-KR" altLang="en-US" sz="1800" b="0" spc="-1" dirty="0">
                <a:solidFill>
                  <a:srgbClr val="FF0000"/>
                </a:solidFill>
                <a:latin typeface="Calibri"/>
              </a:rPr>
              <a:t>에서 요구</a:t>
            </a:r>
            <a:r>
              <a:rPr lang="en-US" sz="1800" b="0" spc="-1" dirty="0">
                <a:solidFill>
                  <a:srgbClr val="000000"/>
                </a:solidFill>
                <a:latin typeface="Calibri"/>
              </a:rPr>
              <a:t>) – v4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</a:rPr>
              <a:t>part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</a:rPr>
              <a:t>에서 설명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>
            <a:extLst>
              <a:ext uri="{FF2B5EF4-FFF2-40B4-BE49-F238E27FC236}">
                <a16:creationId xmlns:a16="http://schemas.microsoft.com/office/drawing/2014/main" id="{158CAB44-E26D-B8D3-19BC-FEB7BCE32AA4}"/>
              </a:ext>
            </a:extLst>
          </p:cNvPr>
          <p:cNvSpPr txBox="1">
            <a:spLocks/>
          </p:cNvSpPr>
          <p:nvPr/>
        </p:nvSpPr>
        <p:spPr>
          <a:xfrm>
            <a:off x="648962" y="1000693"/>
            <a:ext cx="8229240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ko-KR" altLang="en-US" sz="1800" b="0" spc="-1" dirty="0">
                <a:solidFill>
                  <a:srgbClr val="000000"/>
                </a:solidFill>
                <a:latin typeface="Calibri"/>
              </a:rPr>
              <a:t>아래와 같이 두 개의 객체를 선언</a:t>
            </a:r>
            <a:endParaRPr lang="en-US" sz="1800" b="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sz="1800" b="0" spc="-1" dirty="0">
                <a:solidFill>
                  <a:srgbClr val="000000"/>
                </a:solidFill>
                <a:latin typeface="Calibri"/>
              </a:rPr>
              <a:t>1.  Tetris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</a:rPr>
              <a:t>객체 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</a:rPr>
              <a:t>–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</a:rPr>
              <a:t>게임의 전체 상태 및 동작 통합관리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〮  </a:t>
            </a:r>
            <a:r>
              <a:rPr lang="en-US" altLang="ko-KR" sz="1800" b="0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arrayBlk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,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en-US" altLang="ko-KR" sz="1800" b="0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rotateBlk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두개의 클래스 변수 설정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(static member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변수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〮 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모든 인스턴스가 공유하는 변수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</a:rPr>
              <a:t>	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4F88A0-6293-143A-339E-B91D15E2B4DA}"/>
              </a:ext>
            </a:extLst>
          </p:cNvPr>
          <p:cNvSpPr txBox="1"/>
          <p:nvPr/>
        </p:nvSpPr>
        <p:spPr>
          <a:xfrm>
            <a:off x="5940152" y="2132856"/>
            <a:ext cx="29523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&lt;</a:t>
            </a:r>
            <a:r>
              <a:rPr lang="ko-KR" altLang="en-US" b="1" dirty="0"/>
              <a:t>클래스 변수 설정 기준</a:t>
            </a:r>
            <a:r>
              <a:rPr lang="en-US" altLang="ko-KR" b="1" dirty="0"/>
              <a:t>&gt;</a:t>
            </a:r>
          </a:p>
          <a:p>
            <a:pPr algn="ctr"/>
            <a:endParaRPr lang="en-US" altLang="ko-KR" sz="1500" b="1" dirty="0"/>
          </a:p>
          <a:p>
            <a:r>
              <a:rPr lang="en-US" altLang="ko-KR" sz="1500" b="1" dirty="0"/>
              <a:t>1. </a:t>
            </a:r>
            <a:r>
              <a:rPr lang="en-US" altLang="ko-KR" sz="1500" b="1" dirty="0" err="1"/>
              <a:t>arrayBlk</a:t>
            </a:r>
            <a:endParaRPr lang="en-US" altLang="ko-KR" sz="1500" b="1" dirty="0"/>
          </a:p>
          <a:p>
            <a:pPr marL="171450" indent="-171450">
              <a:buFontTx/>
              <a:buChar char="-"/>
            </a:pPr>
            <a:r>
              <a:rPr lang="ko-KR" altLang="en-US" sz="1500" dirty="0"/>
              <a:t>블록의 종류가 바뀔 일은 없기 때문에 모든 인스턴스가 공유하는 변수로 설정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b="1" dirty="0"/>
              <a:t>2. </a:t>
            </a:r>
            <a:r>
              <a:rPr lang="en-US" altLang="ko-KR" sz="1500" b="1" dirty="0" err="1"/>
              <a:t>rotateBlk</a:t>
            </a:r>
            <a:endParaRPr lang="en-US" altLang="ko-KR" sz="1500" b="1" dirty="0"/>
          </a:p>
          <a:p>
            <a:pPr marL="171450" indent="-171450">
              <a:buFontTx/>
              <a:buChar char="-"/>
            </a:pPr>
            <a:r>
              <a:rPr lang="en-US" altLang="ko-KR" sz="1500" dirty="0" err="1"/>
              <a:t>arrayBlk</a:t>
            </a:r>
            <a:r>
              <a:rPr lang="ko-KR" altLang="en-US" sz="1500" dirty="0"/>
              <a:t>가 일정하다면 </a:t>
            </a:r>
            <a:endParaRPr lang="en-US" altLang="ko-KR" sz="1500" dirty="0"/>
          </a:p>
          <a:p>
            <a:r>
              <a:rPr lang="ko-KR" altLang="en-US" sz="1500" dirty="0"/>
              <a:t>그에 따른 회전 블록 모양도</a:t>
            </a:r>
            <a:endParaRPr lang="en-US" altLang="ko-KR" sz="1500" dirty="0"/>
          </a:p>
          <a:p>
            <a:r>
              <a:rPr lang="ko-KR" altLang="en-US" sz="1500" dirty="0"/>
              <a:t>무조건 동일하다고 판단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5A1CE4-F0D0-CEB1-A161-1B5590B0D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920" y="5654245"/>
            <a:ext cx="3305292" cy="108712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4864A48-A723-E375-D414-4D206AC8D35E}"/>
              </a:ext>
            </a:extLst>
          </p:cNvPr>
          <p:cNvCxnSpPr/>
          <p:nvPr/>
        </p:nvCxnSpPr>
        <p:spPr>
          <a:xfrm>
            <a:off x="611560" y="5048453"/>
            <a:ext cx="792088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590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538B-6D04-EF48-C9C1-4B059B3E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5D17FF-B1CF-C764-7FC4-BE25853D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spc="-1" dirty="0">
                <a:latin typeface="Calibri"/>
                <a:ea typeface="Arial Unicode MS"/>
              </a:rPr>
            </a:br>
            <a:br>
              <a:rPr lang="en-US" altLang="ko-KR" spc="-1" dirty="0">
                <a:latin typeface="Calibri"/>
                <a:ea typeface="Arial Unicode MS"/>
              </a:rPr>
            </a:br>
            <a:r>
              <a:rPr lang="en-US" altLang="ko-KR" spc="-1" dirty="0">
                <a:latin typeface="Calibri"/>
                <a:ea typeface="Arial Unicode MS"/>
              </a:rPr>
              <a:t>1. Implementation </a:t>
            </a:r>
            <a:r>
              <a:rPr lang="en-US" altLang="ko-KR" sz="2000" spc="-1" dirty="0">
                <a:latin typeface="Calibri"/>
                <a:ea typeface="Arial Unicode MS"/>
              </a:rPr>
              <a:t>- </a:t>
            </a:r>
            <a:r>
              <a:rPr lang="en-US" altLang="ko-KR" sz="2000" spc="-1" dirty="0">
                <a:ea typeface="Arial Unicode MS"/>
                <a:cs typeface="Calibri" panose="020F0502020204030204" pitchFamily="34" charset="0"/>
              </a:rPr>
              <a:t>v1: Tetris </a:t>
            </a:r>
            <a:r>
              <a:rPr lang="ko-KR" altLang="en-US" sz="2000" spc="-1" dirty="0">
                <a:latin typeface="Malgun Gothic" panose="020B0503020000020004" pitchFamily="34" charset="-127"/>
                <a:ea typeface="Malgun Gothic" panose="020B0503020000020004" pitchFamily="34" charset="-127"/>
                <a:cs typeface="Calibri" panose="020F0502020204030204" pitchFamily="34" charset="0"/>
              </a:rPr>
              <a:t>클래스 작성</a:t>
            </a:r>
            <a:br>
              <a:rPr lang="ko-KR" altLang="en-US" spc="-1" dirty="0">
                <a:latin typeface="Calibri"/>
                <a:ea typeface="Arial Unicode MS"/>
              </a:rPr>
            </a:br>
            <a:br>
              <a:rPr lang="ko-KR" altLang="en-US" spc="-1" dirty="0">
                <a:latin typeface="Calibri"/>
                <a:ea typeface="Arial Unicode MS"/>
              </a:rPr>
            </a:br>
            <a:br>
              <a:rPr lang="ko-KR" altLang="en-US" dirty="0"/>
            </a:br>
            <a:endParaRPr kumimoji="1" lang="ko-Kore-KR" altLang="en-US" dirty="0"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A8E92F3-3D31-E8A5-2786-EAAB15C81AC2}"/>
              </a:ext>
            </a:extLst>
          </p:cNvPr>
          <p:cNvSpPr txBox="1">
            <a:spLocks/>
          </p:cNvSpPr>
          <p:nvPr/>
        </p:nvSpPr>
        <p:spPr>
          <a:xfrm>
            <a:off x="611560" y="1041028"/>
            <a:ext cx="8229240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 Tetris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객체 내부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(dynamic member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변수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3DEDF5-4439-DED2-0692-5F442D8DE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8" y="1806040"/>
            <a:ext cx="9013944" cy="2108768"/>
          </a:xfrm>
          <a:prstGeom prst="rect">
            <a:avLst/>
          </a:prstGeom>
        </p:spPr>
      </p:pic>
      <p:sp>
        <p:nvSpPr>
          <p:cNvPr id="8" name="PlaceHolder 2">
            <a:extLst>
              <a:ext uri="{FF2B5EF4-FFF2-40B4-BE49-F238E27FC236}">
                <a16:creationId xmlns:a16="http://schemas.microsoft.com/office/drawing/2014/main" id="{CAF09626-1225-DE45-A48C-7B0735C09A1B}"/>
              </a:ext>
            </a:extLst>
          </p:cNvPr>
          <p:cNvSpPr txBox="1">
            <a:spLocks/>
          </p:cNvSpPr>
          <p:nvPr/>
        </p:nvSpPr>
        <p:spPr>
          <a:xfrm>
            <a:off x="457200" y="4303210"/>
            <a:ext cx="8229240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 static member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변수처럼 클래스 전체에 공유되는 것이 아니고 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객체마다  고유하게 존재하며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생성 이후 상태 변화가 가능하고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객체 내 여러 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메서드에서 지속적으로 참조되거나 변경 가능성이 있는 값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이를  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dynamic member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변수라고 칭하고 위와 같이 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__</a:t>
            </a:r>
            <a:r>
              <a:rPr lang="en-US" altLang="ko-KR" sz="1800" b="0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init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__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에서 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self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를 통해 정의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134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" dirty="0">
                <a:latin typeface="Calibri"/>
                <a:ea typeface="Arial Unicode MS"/>
              </a:rPr>
              <a:t>1. Implementation - </a:t>
            </a:r>
            <a:r>
              <a:rPr lang="en-US" altLang="ko-KR" spc="-1" dirty="0">
                <a:ea typeface="Arial Unicode MS"/>
                <a:cs typeface="Calibri" panose="020F0502020204030204" pitchFamily="34" charset="0"/>
              </a:rPr>
              <a:t>v1: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  <a:cs typeface="Calibri" panose="020F0502020204030204" pitchFamily="34" charset="0"/>
              </a:rPr>
              <a:t>클래스 작성</a:t>
            </a:r>
            <a:endParaRPr kumimoji="1" lang="ko-Kore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59643F3-C7AC-35F2-4CCF-2D0D11234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736212"/>
            <a:ext cx="4320480" cy="2412868"/>
          </a:xfrm>
          <a:prstGeom prst="rect">
            <a:avLst/>
          </a:prstGeom>
        </p:spPr>
      </p:pic>
      <p:sp>
        <p:nvSpPr>
          <p:cNvPr id="14" name="PlaceHolder 2">
            <a:extLst>
              <a:ext uri="{FF2B5EF4-FFF2-40B4-BE49-F238E27FC236}">
                <a16:creationId xmlns:a16="http://schemas.microsoft.com/office/drawing/2014/main" id="{05EFF302-F9DA-98B2-5BB3-B35CE2DB3E62}"/>
              </a:ext>
            </a:extLst>
          </p:cNvPr>
          <p:cNvSpPr txBox="1">
            <a:spLocks/>
          </p:cNvSpPr>
          <p:nvPr/>
        </p:nvSpPr>
        <p:spPr>
          <a:xfrm>
            <a:off x="663240" y="1124744"/>
            <a:ext cx="8229240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 Tetris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객체 내부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(class method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함수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DF38E7-0E1C-CD9F-6D25-772B9E30609F}"/>
              </a:ext>
            </a:extLst>
          </p:cNvPr>
          <p:cNvSpPr txBox="1"/>
          <p:nvPr/>
        </p:nvSpPr>
        <p:spPr>
          <a:xfrm>
            <a:off x="709545" y="4426947"/>
            <a:ext cx="7727338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&lt;</a:t>
            </a:r>
            <a:r>
              <a:rPr lang="ko-KR" altLang="en-US" b="1" dirty="0"/>
              <a:t>클래스 함수 설정 기준</a:t>
            </a:r>
            <a:r>
              <a:rPr lang="en-US" altLang="ko-KR" b="1" dirty="0"/>
              <a:t>&gt;</a:t>
            </a:r>
          </a:p>
          <a:p>
            <a:pPr algn="ctr"/>
            <a:endParaRPr lang="en-US" altLang="ko-KR" sz="2800" b="1" dirty="0"/>
          </a:p>
          <a:p>
            <a:pPr marL="228600" indent="-228600">
              <a:buAutoNum type="arabicPeriod"/>
            </a:pPr>
            <a:r>
              <a:rPr lang="ko-KR" altLang="en-US" sz="1500" b="1" dirty="0"/>
              <a:t>클래스 변수에 직접 접근하여 변경해야 함</a:t>
            </a:r>
            <a:endParaRPr lang="en-US" altLang="ko-KR" sz="1500" b="1" dirty="0"/>
          </a:p>
          <a:p>
            <a:r>
              <a:rPr lang="en-US" altLang="ko-KR" sz="1500" dirty="0"/>
              <a:t>      - </a:t>
            </a:r>
            <a:r>
              <a:rPr lang="ko-KR" altLang="en-US" sz="1500" dirty="0"/>
              <a:t>앞으로 일정하게 사용할 </a:t>
            </a:r>
            <a:r>
              <a:rPr lang="en-US" altLang="ko-KR" sz="1500" dirty="0" err="1"/>
              <a:t>rotateBlk</a:t>
            </a:r>
            <a:r>
              <a:rPr lang="ko-KR" altLang="en-US" sz="1500" dirty="0"/>
              <a:t>에 직접 접근</a:t>
            </a:r>
            <a:endParaRPr lang="en-US" altLang="ko-KR" sz="1500" dirty="0"/>
          </a:p>
          <a:p>
            <a:r>
              <a:rPr lang="en-US" altLang="ko-KR" sz="1500" dirty="0"/>
              <a:t>      - </a:t>
            </a:r>
            <a:r>
              <a:rPr lang="ko-KR" altLang="en-US" sz="1500" dirty="0"/>
              <a:t>이 작업은 클래스 전체에서 한번만 수행</a:t>
            </a:r>
            <a:endParaRPr lang="en-US" altLang="ko-KR" sz="1500" dirty="0"/>
          </a:p>
          <a:p>
            <a:r>
              <a:rPr lang="en-US" altLang="ko-KR" sz="1500" dirty="0"/>
              <a:t>      - </a:t>
            </a:r>
            <a:r>
              <a:rPr lang="ko-KR" altLang="en-US" sz="1500" dirty="0"/>
              <a:t>클래스 변수에 직접 접근하여 초기화 </a:t>
            </a:r>
            <a:r>
              <a:rPr lang="ko-KR" altLang="en-US" sz="1500" dirty="0" err="1"/>
              <a:t>해야하기</a:t>
            </a:r>
            <a:r>
              <a:rPr lang="ko-KR" altLang="en-US" sz="1500" dirty="0"/>
              <a:t> 때문에 </a:t>
            </a:r>
            <a:r>
              <a:rPr lang="en-US" altLang="ko-KR" sz="1500" dirty="0" err="1"/>
              <a:t>cls</a:t>
            </a:r>
            <a:r>
              <a:rPr lang="ko-KR" altLang="en-US" sz="1500" dirty="0"/>
              <a:t>가 필요한 클래스 메소드</a:t>
            </a:r>
            <a:endParaRPr lang="en-US" altLang="ko-KR" sz="1500" dirty="0"/>
          </a:p>
          <a:p>
            <a:r>
              <a:rPr lang="en-US" altLang="ko-KR" sz="1500" dirty="0"/>
              <a:t>      - </a:t>
            </a:r>
            <a:r>
              <a:rPr lang="en-US" altLang="ko-KR" sz="1500" dirty="0" err="1"/>
              <a:t>rotateBlk</a:t>
            </a:r>
            <a:r>
              <a:rPr lang="ko-KR" altLang="en-US" sz="1500" dirty="0"/>
              <a:t>에 </a:t>
            </a:r>
            <a:r>
              <a:rPr lang="en-US" altLang="ko-KR" sz="1500" dirty="0" err="1"/>
              <a:t>arrayBlk</a:t>
            </a:r>
            <a:r>
              <a:rPr lang="ko-KR" altLang="en-US" sz="1500" dirty="0"/>
              <a:t>를 기준으로 회전된 모든 블록 경우의 수 저장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3938237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556B-0B22-12CA-362C-8DDD4A166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A79868-7B27-31B8-0273-74835AF52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" dirty="0">
                <a:latin typeface="Calibri"/>
                <a:ea typeface="Arial Unicode MS"/>
              </a:rPr>
              <a:t>1. Implementation - </a:t>
            </a:r>
            <a:r>
              <a:rPr lang="en-US" altLang="ko-KR" spc="-1" dirty="0">
                <a:ea typeface="Arial Unicode MS"/>
                <a:cs typeface="Calibri" panose="020F0502020204030204" pitchFamily="34" charset="0"/>
              </a:rPr>
              <a:t>v1: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  <a:cs typeface="Calibri" panose="020F0502020204030204" pitchFamily="34" charset="0"/>
              </a:rPr>
              <a:t>클래스 작성</a:t>
            </a:r>
            <a:endParaRPr kumimoji="1" lang="ko-Kore-KR" altLang="en-US" dirty="0"/>
          </a:p>
        </p:txBody>
      </p:sp>
      <p:sp>
        <p:nvSpPr>
          <p:cNvPr id="15" name="PlaceHolder 2">
            <a:extLst>
              <a:ext uri="{FF2B5EF4-FFF2-40B4-BE49-F238E27FC236}">
                <a16:creationId xmlns:a16="http://schemas.microsoft.com/office/drawing/2014/main" id="{2EAF6C0B-E971-1831-856E-75DA02DADC7D}"/>
              </a:ext>
            </a:extLst>
          </p:cNvPr>
          <p:cNvSpPr txBox="1">
            <a:spLocks/>
          </p:cNvSpPr>
          <p:nvPr/>
        </p:nvSpPr>
        <p:spPr>
          <a:xfrm>
            <a:off x="663240" y="1202005"/>
            <a:ext cx="8229240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 Tetris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객체 내부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(static method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함수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085116-EE8B-A5B0-44FC-993839D61B27}"/>
              </a:ext>
            </a:extLst>
          </p:cNvPr>
          <p:cNvSpPr txBox="1"/>
          <p:nvPr/>
        </p:nvSpPr>
        <p:spPr>
          <a:xfrm>
            <a:off x="4824945" y="1999780"/>
            <a:ext cx="4463439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dirty="0"/>
              <a:t>&lt;static method</a:t>
            </a:r>
            <a:r>
              <a:rPr lang="ko-KR" altLang="en-US" sz="1500" b="1" dirty="0"/>
              <a:t> 함수 설정 기준</a:t>
            </a:r>
            <a:r>
              <a:rPr lang="en-US" altLang="ko-KR" sz="1500" b="1" dirty="0"/>
              <a:t>&gt;</a:t>
            </a:r>
          </a:p>
          <a:p>
            <a:pPr algn="ctr"/>
            <a:endParaRPr lang="en-US" altLang="ko-KR" sz="1500" b="1" dirty="0"/>
          </a:p>
          <a:p>
            <a:r>
              <a:rPr lang="en-US" altLang="ko-KR" sz="1500" b="1" dirty="0"/>
              <a:t>1.  </a:t>
            </a:r>
            <a:r>
              <a:rPr lang="en-US" altLang="ko-KR" sz="1500" b="1" dirty="0" err="1"/>
              <a:t>start_line</a:t>
            </a:r>
            <a:endParaRPr lang="en-US" altLang="ko-KR" sz="1500" b="1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블록 내 </a:t>
            </a:r>
            <a:r>
              <a:rPr lang="ko-KR" altLang="en-US" sz="1500" dirty="0" err="1"/>
              <a:t>비어있는</a:t>
            </a:r>
            <a:r>
              <a:rPr lang="ko-KR" altLang="en-US" sz="1500" dirty="0"/>
              <a:t> 줄의 위치 계산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클래스 내부 맥락과는 연관 </a:t>
            </a:r>
            <a:r>
              <a:rPr lang="en-US" altLang="ko-KR" sz="1500" dirty="0"/>
              <a:t>O</a:t>
            </a:r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하지만 내부 데이터 사용 </a:t>
            </a:r>
            <a:r>
              <a:rPr lang="en-US" altLang="ko-KR" sz="1500" dirty="0"/>
              <a:t>X</a:t>
            </a:r>
          </a:p>
          <a:p>
            <a:r>
              <a:rPr lang="en-US" altLang="ko-KR" sz="1500" b="1" dirty="0"/>
              <a:t>2.  </a:t>
            </a:r>
            <a:r>
              <a:rPr lang="en-US" altLang="ko-KR" sz="1500" b="1" dirty="0" err="1"/>
              <a:t>rotate_arr</a:t>
            </a:r>
            <a:endParaRPr lang="en-US" altLang="ko-KR" sz="1500" b="1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배열 회전기능만 수행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클래스 내부  </a:t>
            </a:r>
            <a:r>
              <a:rPr lang="en-US" altLang="ko-KR" sz="1500" dirty="0"/>
              <a:t>self, </a:t>
            </a:r>
            <a:r>
              <a:rPr lang="en-US" altLang="ko-KR" sz="1500" dirty="0" err="1"/>
              <a:t>cls</a:t>
            </a:r>
            <a:r>
              <a:rPr lang="en-US" altLang="ko-KR" sz="1500" dirty="0"/>
              <a:t> </a:t>
            </a:r>
            <a:r>
              <a:rPr lang="ko-KR" altLang="en-US" sz="1500" dirty="0"/>
              <a:t>모두 참조 </a:t>
            </a:r>
            <a:r>
              <a:rPr lang="en-US" altLang="ko-KR" sz="1500" dirty="0"/>
              <a:t>X </a:t>
            </a:r>
          </a:p>
          <a:p>
            <a:pPr marL="228600" indent="-228600">
              <a:buAutoNum type="arabicPeriod" startAt="3"/>
            </a:pPr>
            <a:r>
              <a:rPr lang="en-US" altLang="ko-KR" sz="1500" b="1" dirty="0" err="1"/>
              <a:t>check_collision</a:t>
            </a:r>
            <a:endParaRPr lang="en-US" altLang="ko-KR" sz="1500" b="1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주어진 인자들을 바탕으로 충돌 여부만 판단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주어진 인자 특성상 </a:t>
            </a:r>
            <a:r>
              <a:rPr lang="en-US" altLang="ko-KR" sz="1500" dirty="0"/>
              <a:t>self</a:t>
            </a:r>
            <a:r>
              <a:rPr lang="ko-KR" altLang="en-US" sz="1500" dirty="0"/>
              <a:t>로 받아도 된다</a:t>
            </a:r>
            <a:r>
              <a:rPr lang="en-US" altLang="ko-KR" sz="1500" dirty="0"/>
              <a:t>?</a:t>
            </a:r>
          </a:p>
          <a:p>
            <a:r>
              <a:rPr lang="en-US" altLang="ko-KR" sz="1500" dirty="0"/>
              <a:t>     -&gt; X / </a:t>
            </a:r>
            <a:r>
              <a:rPr lang="ko-KR" altLang="en-US" sz="1500" dirty="0"/>
              <a:t>쓰임새에 따라 </a:t>
            </a:r>
            <a:r>
              <a:rPr lang="en-US" altLang="ko-KR" sz="1500" dirty="0" err="1"/>
              <a:t>tempBlk</a:t>
            </a:r>
            <a:r>
              <a:rPr lang="en-US" altLang="ko-KR" sz="1500" dirty="0"/>
              <a:t>/</a:t>
            </a:r>
            <a:r>
              <a:rPr lang="en-US" altLang="ko-KR" sz="1500" dirty="0" err="1"/>
              <a:t>currBlk</a:t>
            </a:r>
            <a:r>
              <a:rPr lang="ko-KR" altLang="en-US" sz="1500" dirty="0"/>
              <a:t>가</a:t>
            </a:r>
            <a:endParaRPr lang="en-US" altLang="ko-KR" sz="1500" dirty="0"/>
          </a:p>
          <a:p>
            <a:r>
              <a:rPr lang="ko-KR" altLang="en-US" sz="1500" dirty="0"/>
              <a:t> 인자로 </a:t>
            </a:r>
            <a:r>
              <a:rPr lang="ko-KR" altLang="en-US" sz="1500" dirty="0" err="1"/>
              <a:t>들어감</a:t>
            </a:r>
            <a:r>
              <a:rPr lang="en-US" altLang="ko-KR" sz="1500" dirty="0"/>
              <a:t>,</a:t>
            </a:r>
            <a:r>
              <a:rPr lang="ko-KR" altLang="en-US" sz="1500" dirty="0"/>
              <a:t> </a:t>
            </a:r>
            <a:r>
              <a:rPr lang="en-US" altLang="ko-KR" sz="1500" dirty="0"/>
              <a:t>self</a:t>
            </a:r>
            <a:r>
              <a:rPr lang="ko-KR" altLang="en-US" sz="1500" dirty="0"/>
              <a:t>로 고정해버리면 안 됨   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객체 상태에 의존하지 안는 독립 함수로 정의</a:t>
            </a:r>
            <a:endParaRPr lang="en-US" altLang="ko-KR" sz="1500" dirty="0"/>
          </a:p>
          <a:p>
            <a:endParaRPr lang="en-US" altLang="ko-KR" sz="1500" dirty="0"/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ko-KR" altLang="en-US" sz="1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모두 클래스 내부상태 의존 </a:t>
            </a:r>
            <a:r>
              <a:rPr lang="en-US" altLang="ko-KR" sz="1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 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ko-KR" altLang="en-US" sz="15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전달된 인자만으로 동작</a:t>
            </a:r>
            <a:endParaRPr lang="en-US" altLang="ko-KR" sz="15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ko-KR" sz="1500" dirty="0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0937D8-D622-985C-4F30-A6C292CAD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345005"/>
            <a:ext cx="4463439" cy="248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55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A69E-4752-728D-CA88-618923815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DA93F-EF1D-8F68-08B8-7AF5EFDAB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" dirty="0">
                <a:latin typeface="Calibri"/>
                <a:ea typeface="Arial Unicode MS"/>
              </a:rPr>
              <a:t>1. Implementation - </a:t>
            </a:r>
            <a:r>
              <a:rPr lang="en-US" altLang="ko-KR" spc="-1" dirty="0">
                <a:ea typeface="Arial Unicode MS"/>
                <a:cs typeface="Calibri" panose="020F0502020204030204" pitchFamily="34" charset="0"/>
              </a:rPr>
              <a:t>v1: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  <a:cs typeface="Calibri" panose="020F0502020204030204" pitchFamily="34" charset="0"/>
              </a:rPr>
              <a:t>클래스 작성</a:t>
            </a:r>
            <a:endParaRPr kumimoji="1" lang="ko-Kore-KR" altLang="en-US" dirty="0"/>
          </a:p>
        </p:txBody>
      </p:sp>
      <p:sp>
        <p:nvSpPr>
          <p:cNvPr id="14" name="PlaceHolder 2">
            <a:extLst>
              <a:ext uri="{FF2B5EF4-FFF2-40B4-BE49-F238E27FC236}">
                <a16:creationId xmlns:a16="http://schemas.microsoft.com/office/drawing/2014/main" id="{37870024-ECA5-8756-50B0-18F1598ABEDF}"/>
              </a:ext>
            </a:extLst>
          </p:cNvPr>
          <p:cNvSpPr txBox="1">
            <a:spLocks/>
          </p:cNvSpPr>
          <p:nvPr/>
        </p:nvSpPr>
        <p:spPr>
          <a:xfrm>
            <a:off x="623963" y="1093781"/>
            <a:ext cx="8229240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 Tetris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객체 내부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(dynamic method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함수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B45A005-FD34-6401-484C-CE72DB8C3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3787"/>
            <a:ext cx="5820587" cy="17052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BDBC83E-A5D4-F7B2-6A28-C329F7ACB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47390"/>
            <a:ext cx="8402438" cy="278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75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0AACF-F629-23DC-DB30-E4D67BE6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6FCEA-B37B-EF4E-B887-95B0BF36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" dirty="0">
                <a:latin typeface="Calibri"/>
                <a:ea typeface="Arial Unicode MS"/>
              </a:rPr>
              <a:t>1. Implementation - </a:t>
            </a:r>
            <a:r>
              <a:rPr lang="en-US" altLang="ko-KR" spc="-1" dirty="0">
                <a:ea typeface="Arial Unicode MS"/>
                <a:cs typeface="Calibri" panose="020F0502020204030204" pitchFamily="34" charset="0"/>
              </a:rPr>
              <a:t>v1: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  <a:cs typeface="Calibri" panose="020F0502020204030204" pitchFamily="34" charset="0"/>
              </a:rPr>
              <a:t>클래스 작성</a:t>
            </a:r>
            <a:endParaRPr kumimoji="1" lang="ko-Kore-KR" altLang="en-US" dirty="0"/>
          </a:p>
        </p:txBody>
      </p:sp>
      <p:sp>
        <p:nvSpPr>
          <p:cNvPr id="14" name="PlaceHolder 2">
            <a:extLst>
              <a:ext uri="{FF2B5EF4-FFF2-40B4-BE49-F238E27FC236}">
                <a16:creationId xmlns:a16="http://schemas.microsoft.com/office/drawing/2014/main" id="{84F07A9E-7B09-841C-3ED1-BE189E824ED0}"/>
              </a:ext>
            </a:extLst>
          </p:cNvPr>
          <p:cNvSpPr txBox="1">
            <a:spLocks/>
          </p:cNvSpPr>
          <p:nvPr/>
        </p:nvSpPr>
        <p:spPr>
          <a:xfrm>
            <a:off x="539552" y="1120435"/>
            <a:ext cx="8229240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 Tetris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객체 내부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(dynamic method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함수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 – 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향상 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5658B-3CB3-0990-9DD6-931BC5629D7A}"/>
              </a:ext>
            </a:extLst>
          </p:cNvPr>
          <p:cNvSpPr txBox="1"/>
          <p:nvPr/>
        </p:nvSpPr>
        <p:spPr>
          <a:xfrm>
            <a:off x="735105" y="4509120"/>
            <a:ext cx="783813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&lt;</a:t>
            </a:r>
            <a:r>
              <a:rPr lang="ko-KR" altLang="en-US" b="1" dirty="0"/>
              <a:t>변경사항</a:t>
            </a:r>
            <a:r>
              <a:rPr lang="en-US" altLang="ko-KR" b="1" dirty="0"/>
              <a:t>&gt;</a:t>
            </a:r>
          </a:p>
          <a:p>
            <a:pPr algn="ctr"/>
            <a:endParaRPr lang="en-US" altLang="ko-KR" sz="1500" b="1" dirty="0"/>
          </a:p>
          <a:p>
            <a:pPr marL="228600" indent="-228600">
              <a:buAutoNum type="arabicPeriod"/>
            </a:pPr>
            <a:r>
              <a:rPr lang="en-US" altLang="ko-KR" sz="1500" b="1" dirty="0" err="1"/>
              <a:t>clear_filled_lines</a:t>
            </a:r>
            <a:endParaRPr lang="en-US" altLang="ko-KR" sz="1500" b="1" dirty="0"/>
          </a:p>
          <a:p>
            <a:r>
              <a:rPr lang="en-US" altLang="ko-KR" sz="1500" b="1" dirty="0"/>
              <a:t>  </a:t>
            </a:r>
            <a:r>
              <a:rPr lang="en-US" altLang="ko-KR" sz="1500" dirty="0"/>
              <a:t>- </a:t>
            </a:r>
            <a:r>
              <a:rPr lang="ko-KR" altLang="en-US" sz="1500" dirty="0"/>
              <a:t>기존방식</a:t>
            </a:r>
            <a:r>
              <a:rPr lang="en-US" altLang="ko-KR" sz="1500" dirty="0"/>
              <a:t>(clip -&gt; paste)</a:t>
            </a:r>
            <a:r>
              <a:rPr lang="ko-KR" altLang="en-US" sz="1500" dirty="0"/>
              <a:t>의 반복은 매줄마다 새로운 </a:t>
            </a:r>
            <a:r>
              <a:rPr lang="en-US" altLang="ko-KR" sz="1500" dirty="0"/>
              <a:t>MATRIX </a:t>
            </a:r>
            <a:r>
              <a:rPr lang="ko-KR" altLang="en-US" sz="1500" dirty="0"/>
              <a:t>객체 생성</a:t>
            </a:r>
            <a:endParaRPr lang="en-US" altLang="ko-KR" sz="1500" dirty="0"/>
          </a:p>
          <a:p>
            <a:r>
              <a:rPr lang="en-US" altLang="ko-KR" sz="1500" dirty="0"/>
              <a:t>    =&gt; </a:t>
            </a:r>
            <a:r>
              <a:rPr lang="ko-KR" altLang="en-US" sz="1500" dirty="0"/>
              <a:t>불필요한 메모리 복사 및 연산 부담 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불필요한 </a:t>
            </a:r>
            <a:r>
              <a:rPr lang="en-US" altLang="ko-KR" sz="1500" dirty="0"/>
              <a:t>MATRIX </a:t>
            </a:r>
            <a:r>
              <a:rPr lang="ko-KR" altLang="en-US" sz="1500" dirty="0"/>
              <a:t>객체 생성 제거 </a:t>
            </a:r>
            <a:r>
              <a:rPr lang="en-US" altLang="ko-KR" sz="1500" dirty="0"/>
              <a:t>-&gt; </a:t>
            </a:r>
            <a:r>
              <a:rPr lang="ko-KR" altLang="en-US" sz="1500" dirty="0"/>
              <a:t>모두 배열 </a:t>
            </a:r>
            <a:r>
              <a:rPr lang="ko-KR" altLang="en-US" sz="1500" dirty="0" err="1"/>
              <a:t>슬라이싱</a:t>
            </a:r>
            <a:r>
              <a:rPr lang="ko-KR" altLang="en-US" sz="1500" dirty="0"/>
              <a:t> 등으로 처리 </a:t>
            </a:r>
            <a:r>
              <a:rPr lang="en-US" altLang="ko-KR" sz="1500" dirty="0"/>
              <a:t>+ </a:t>
            </a:r>
            <a:r>
              <a:rPr lang="ko-KR" altLang="en-US" sz="1500" dirty="0"/>
              <a:t>속도 향상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매줄마다 </a:t>
            </a:r>
            <a:r>
              <a:rPr lang="en-US" altLang="ko-KR" sz="1500" dirty="0"/>
              <a:t>clip / paste</a:t>
            </a:r>
            <a:r>
              <a:rPr lang="ko-KR" altLang="en-US" sz="1500" dirty="0"/>
              <a:t>등의 부담 감소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필요한 줄만 복사하는 방식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채워지지 않은 줄 즉시 아래로 복사하는 방식</a:t>
            </a:r>
            <a:endParaRPr lang="en-US" altLang="ko-KR" sz="15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CDA2EC9-73A5-069A-0AE6-6CC7253BB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57" y="1682961"/>
            <a:ext cx="8497486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980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F889B-D9CC-A399-0B8D-2DE8B62B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9CB3C-7926-C728-DC3F-5D266B93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1" dirty="0">
                <a:latin typeface="Calibri"/>
                <a:ea typeface="Arial Unicode MS"/>
              </a:rPr>
              <a:t>1. Implementation - </a:t>
            </a:r>
            <a:r>
              <a:rPr lang="en-US" altLang="ko-KR" spc="-1" dirty="0">
                <a:ea typeface="Arial Unicode MS"/>
                <a:cs typeface="Calibri" panose="020F0502020204030204" pitchFamily="34" charset="0"/>
              </a:rPr>
              <a:t>v1: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  <a:cs typeface="Calibri" panose="020F0502020204030204" pitchFamily="34" charset="0"/>
              </a:rPr>
              <a:t>클래스 작성</a:t>
            </a:r>
            <a:endParaRPr kumimoji="1" lang="ko-Kore-KR" altLang="en-US" dirty="0"/>
          </a:p>
        </p:txBody>
      </p:sp>
      <p:sp>
        <p:nvSpPr>
          <p:cNvPr id="14" name="PlaceHolder 2">
            <a:extLst>
              <a:ext uri="{FF2B5EF4-FFF2-40B4-BE49-F238E27FC236}">
                <a16:creationId xmlns:a16="http://schemas.microsoft.com/office/drawing/2014/main" id="{20279CBA-1EAC-B8C8-5EED-F4B3C8BF941A}"/>
              </a:ext>
            </a:extLst>
          </p:cNvPr>
          <p:cNvSpPr txBox="1">
            <a:spLocks/>
          </p:cNvSpPr>
          <p:nvPr/>
        </p:nvSpPr>
        <p:spPr>
          <a:xfrm>
            <a:off x="683568" y="1268760"/>
            <a:ext cx="8229240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en-US" altLang="ko-KR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〮  Tetris</a:t>
            </a:r>
            <a:r>
              <a:rPr lang="ko-KR" altLang="en-US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객체 내부</a:t>
            </a:r>
            <a:r>
              <a:rPr lang="en-US" altLang="ko-KR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(dynamic method </a:t>
            </a:r>
            <a:r>
              <a:rPr lang="ko-KR" altLang="en-US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함수</a:t>
            </a:r>
            <a:r>
              <a:rPr lang="en-US" altLang="ko-KR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r>
              <a:rPr lang="ko-KR" altLang="en-US" sz="14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sz="1400" b="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6956C-41F8-53D3-6C67-C9DCF44DDDFB}"/>
              </a:ext>
            </a:extLst>
          </p:cNvPr>
          <p:cNvSpPr txBox="1"/>
          <p:nvPr/>
        </p:nvSpPr>
        <p:spPr>
          <a:xfrm>
            <a:off x="1742930" y="4293096"/>
            <a:ext cx="61105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&lt;</a:t>
            </a:r>
            <a:r>
              <a:rPr lang="ko-KR" altLang="en-US" b="1" dirty="0"/>
              <a:t>추가사항</a:t>
            </a:r>
            <a:r>
              <a:rPr lang="en-US" altLang="ko-KR" b="1" dirty="0"/>
              <a:t>&gt;</a:t>
            </a:r>
          </a:p>
          <a:p>
            <a:pPr algn="ctr"/>
            <a:endParaRPr lang="en-US" altLang="ko-KR" sz="1500" b="1" dirty="0"/>
          </a:p>
          <a:p>
            <a:r>
              <a:rPr lang="en-US" altLang="ko-KR" sz="1500" b="1" dirty="0"/>
              <a:t>1.  </a:t>
            </a:r>
            <a:r>
              <a:rPr lang="en-US" altLang="ko-KR" sz="1500" b="1" dirty="0" err="1"/>
              <a:t>update_oScreen</a:t>
            </a:r>
            <a:endParaRPr lang="en-US" altLang="ko-KR" sz="1500" b="1" dirty="0"/>
          </a:p>
          <a:p>
            <a:r>
              <a:rPr lang="en-US" altLang="ko-KR" sz="1500" dirty="0"/>
              <a:t>  - accept </a:t>
            </a:r>
            <a:r>
              <a:rPr lang="ko-KR" altLang="en-US" sz="1500" dirty="0"/>
              <a:t>함수 내 여러 위치에서 화면 갱신 로직 중복</a:t>
            </a:r>
            <a:endParaRPr lang="en-US" altLang="ko-KR" sz="1500" dirty="0"/>
          </a:p>
          <a:p>
            <a:r>
              <a:rPr lang="en-US" altLang="ko-KR" sz="1500" dirty="0"/>
              <a:t>  - clip -&gt; </a:t>
            </a:r>
            <a:r>
              <a:rPr lang="en-US" altLang="ko-KR" sz="1500" dirty="0" err="1"/>
              <a:t>currBlk</a:t>
            </a:r>
            <a:r>
              <a:rPr lang="en-US" altLang="ko-KR" sz="1500" dirty="0"/>
              <a:t> </a:t>
            </a:r>
            <a:r>
              <a:rPr lang="ko-KR" altLang="en-US" sz="1500" dirty="0"/>
              <a:t>더하기</a:t>
            </a:r>
            <a:r>
              <a:rPr lang="en-US" altLang="ko-KR" sz="1500" dirty="0"/>
              <a:t> -&gt; paste</a:t>
            </a:r>
            <a:r>
              <a:rPr lang="ko-KR" altLang="en-US" sz="1500" dirty="0"/>
              <a:t>의 흐름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중복 코드 제거 및 화면 </a:t>
            </a:r>
            <a:r>
              <a:rPr lang="ko-KR" altLang="en-US" sz="1500" dirty="0" err="1"/>
              <a:t>갱신로직을</a:t>
            </a:r>
            <a:r>
              <a:rPr lang="ko-KR" altLang="en-US" sz="1500" dirty="0"/>
              <a:t> 명확히 분리하기</a:t>
            </a:r>
            <a:r>
              <a:rPr lang="en-US" altLang="ko-KR" sz="1500" dirty="0"/>
              <a:t> </a:t>
            </a:r>
            <a:r>
              <a:rPr lang="ko-KR" altLang="en-US" sz="1500" dirty="0"/>
              <a:t>위해</a:t>
            </a:r>
            <a:endParaRPr lang="en-US" altLang="ko-KR" sz="1500" dirty="0"/>
          </a:p>
          <a:p>
            <a:r>
              <a:rPr lang="en-US" altLang="ko-KR" sz="1500" dirty="0"/>
              <a:t>  - </a:t>
            </a:r>
            <a:r>
              <a:rPr lang="ko-KR" altLang="en-US" sz="1500" dirty="0"/>
              <a:t>코드 간결화 </a:t>
            </a:r>
            <a:r>
              <a:rPr lang="en-US" altLang="ko-KR" sz="1500" dirty="0"/>
              <a:t>+ </a:t>
            </a:r>
            <a:r>
              <a:rPr lang="ko-KR" altLang="en-US" sz="1500" dirty="0"/>
              <a:t>객체지향적 화면상태 관리 분리</a:t>
            </a:r>
            <a:endParaRPr lang="en-US" altLang="ko-KR" sz="15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37F95B-A8D2-B876-2404-383A57581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079308"/>
            <a:ext cx="6336704" cy="197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5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sz="2800" spc="-1" dirty="0">
                <a:latin typeface="Calibri"/>
                <a:ea typeface="Arial Unicode MS"/>
              </a:rPr>
            </a:br>
            <a:br>
              <a:rPr lang="en-US" altLang="ko-KR" sz="2800" spc="-1" dirty="0">
                <a:latin typeface="Calibri"/>
                <a:ea typeface="Arial Unicode MS"/>
              </a:rPr>
            </a:br>
            <a:br>
              <a:rPr lang="en-US" altLang="ko-KR" sz="2800" spc="-1" dirty="0">
                <a:latin typeface="Calibri"/>
                <a:ea typeface="Arial Unicode MS"/>
              </a:rPr>
            </a:br>
            <a:r>
              <a:rPr lang="en-US" altLang="ko-KR" sz="2800" spc="-1" dirty="0">
                <a:latin typeface="Calibri"/>
                <a:ea typeface="Arial Unicode MS"/>
              </a:rPr>
              <a:t>2. Implementation </a:t>
            </a:r>
            <a:r>
              <a:rPr lang="en-US" altLang="ko-KR" spc="-1" dirty="0">
                <a:latin typeface="Calibri"/>
                <a:ea typeface="Arial Unicode MS"/>
              </a:rPr>
              <a:t>- v2: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클래스 검증 </a:t>
            </a:r>
            <a:r>
              <a:rPr lang="en-US" altLang="ko-KR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복수 객체</a:t>
            </a:r>
            <a:r>
              <a:rPr lang="en-US" altLang="ko-KR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br>
              <a:rPr lang="en-US" altLang="ko-KR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b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</a:br>
            <a:br>
              <a:rPr lang="ko-KR" altLang="en-US" sz="2800" spc="-1" dirty="0">
                <a:latin typeface="Calibri"/>
                <a:ea typeface="Arial Unicode MS"/>
              </a:rPr>
            </a:br>
            <a:br>
              <a:rPr lang="ko-KR" altLang="en-US" sz="2800" dirty="0"/>
            </a:br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9C91341-2B9F-753D-6468-69F458454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2118866"/>
            <a:ext cx="3989503" cy="446449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67B1D28-4E03-D214-2982-A0552BD74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49" y="3741432"/>
            <a:ext cx="4752528" cy="21358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CA353C-56D6-25EA-E6BA-84E9E63F0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0343" y="1708177"/>
            <a:ext cx="3636912" cy="18228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3EE15B-0DA3-D14F-F9AC-DDF7FF993FC5}"/>
              </a:ext>
            </a:extLst>
          </p:cNvPr>
          <p:cNvSpPr/>
          <p:nvPr/>
        </p:nvSpPr>
        <p:spPr>
          <a:xfrm>
            <a:off x="255798" y="3857952"/>
            <a:ext cx="657598" cy="815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053D04F-BD80-886D-DCA6-68F3B61D5B69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 flipV="1">
            <a:off x="913396" y="1799317"/>
            <a:ext cx="4266947" cy="2099402"/>
          </a:xfrm>
          <a:prstGeom prst="straightConnector1">
            <a:avLst/>
          </a:prstGeom>
          <a:ln w="9525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C636C24-7E15-0132-523D-B507B24341C3}"/>
              </a:ext>
            </a:extLst>
          </p:cNvPr>
          <p:cNvSpPr txBox="1"/>
          <p:nvPr/>
        </p:nvSpPr>
        <p:spPr>
          <a:xfrm>
            <a:off x="326745" y="1486984"/>
            <a:ext cx="37163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__Init__</a:t>
            </a:r>
            <a:r>
              <a:rPr lang="ko-KR" altLang="en-US" sz="1500" dirty="0"/>
              <a:t>함수는 각 파라미터에 </a:t>
            </a:r>
            <a:endParaRPr lang="en-US" altLang="ko-KR" sz="1500" dirty="0"/>
          </a:p>
          <a:p>
            <a:r>
              <a:rPr lang="ko-KR" altLang="en-US" sz="1500" dirty="0"/>
              <a:t>기본값이 저장되어 있어 </a:t>
            </a:r>
            <a:endParaRPr lang="en-US" altLang="ko-KR" sz="1500" dirty="0"/>
          </a:p>
          <a:p>
            <a:r>
              <a:rPr lang="ko-KR" altLang="en-US" sz="1500" dirty="0"/>
              <a:t>별도의 인자 없이 개체를</a:t>
            </a:r>
            <a:r>
              <a:rPr lang="en-US" altLang="ko-KR" sz="1500" dirty="0"/>
              <a:t> </a:t>
            </a:r>
            <a:r>
              <a:rPr lang="ko-KR" altLang="en-US" sz="1500" dirty="0"/>
              <a:t>생성해도 </a:t>
            </a:r>
            <a:endParaRPr lang="en-US" altLang="ko-KR" sz="1500" dirty="0"/>
          </a:p>
          <a:p>
            <a:r>
              <a:rPr lang="ko-KR" altLang="en-US" sz="1500" dirty="0"/>
              <a:t>자동으로 지정된 초기값 할당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2332670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4. </a:t>
            </a:r>
            <a:r>
              <a:rPr lang="en-US" altLang="ko-KR" spc="-1" dirty="0">
                <a:latin typeface="Calibri"/>
                <a:ea typeface="Arial Unicode MS"/>
              </a:rPr>
              <a:t>v4: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클래스에 </a:t>
            </a:r>
            <a:r>
              <a:rPr lang="en-US" altLang="ko-KR" spc="-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enum</a:t>
            </a:r>
            <a:r>
              <a:rPr lang="en-US" altLang="ko-KR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타입 적용</a:t>
            </a:r>
            <a:endParaRPr kumimoji="1" lang="ko-Kore-KR" altLang="en-US" dirty="0"/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426FDFC6-C70B-7C10-5A83-F3969D840853}"/>
              </a:ext>
            </a:extLst>
          </p:cNvPr>
          <p:cNvSpPr txBox="1">
            <a:spLocks/>
          </p:cNvSpPr>
          <p:nvPr/>
        </p:nvSpPr>
        <p:spPr>
          <a:xfrm>
            <a:off x="4068109" y="1396613"/>
            <a:ext cx="4783299" cy="570811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400" b="1" kern="1200">
                <a:solidFill>
                  <a:srgbClr val="0070C0"/>
                </a:solidFill>
                <a:latin typeface="Calibri" panose="020F0502020204030204" pitchFamily="34" charset="0"/>
                <a:ea typeface="Arial Unicode MS" panose="020B0604020202020204" pitchFamily="50" charset="-127"/>
                <a:cs typeface="Arial" panose="020B0604020202020204" pitchFamily="34" charset="0"/>
              </a:defRPr>
            </a:lvl1pPr>
          </a:lstStyle>
          <a:p>
            <a:pPr>
              <a:spcBef>
                <a:spcPts val="360"/>
              </a:spcBef>
            </a:pPr>
            <a:r>
              <a:rPr lang="ko-KR" altLang="en-US" sz="1800" b="0" spc="-1" dirty="0">
                <a:solidFill>
                  <a:srgbClr val="000000"/>
                </a:solidFill>
                <a:latin typeface="Calibri"/>
              </a:rPr>
              <a:t>아래와 같이 세개의 상태로 구분하였으며 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latin typeface="Calibri"/>
              </a:rPr>
              <a:t>(3</a:t>
            </a:r>
            <a:r>
              <a:rPr lang="ko-KR" altLang="en-US" sz="1800" b="0" spc="-1" dirty="0">
                <a:solidFill>
                  <a:srgbClr val="000000"/>
                </a:solidFill>
                <a:latin typeface="Calibri"/>
              </a:rPr>
              <a:t>가지 상태로 구성된 유한상태 기계</a:t>
            </a:r>
            <a:r>
              <a:rPr lang="en-US" altLang="ko-KR" sz="1800" b="0" spc="-1" dirty="0">
                <a:solidFill>
                  <a:srgbClr val="000000"/>
                </a:solidFill>
                <a:latin typeface="Calibri"/>
              </a:rPr>
              <a:t>(FSM))</a:t>
            </a:r>
          </a:p>
          <a:p>
            <a:pPr>
              <a:spcBef>
                <a:spcPts val="360"/>
              </a:spcBef>
            </a:pP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80D629-37C7-127C-0662-00347E2FC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93" y="1210466"/>
            <a:ext cx="2867425" cy="943107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1751C030-3E4B-15C8-6C7B-3E7F80287778}"/>
              </a:ext>
            </a:extLst>
          </p:cNvPr>
          <p:cNvGrpSpPr/>
          <p:nvPr/>
        </p:nvGrpSpPr>
        <p:grpSpPr>
          <a:xfrm>
            <a:off x="1331640" y="2708920"/>
            <a:ext cx="7519768" cy="3816424"/>
            <a:chOff x="1331640" y="2708920"/>
            <a:chExt cx="7519768" cy="3816424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3B5B620-4416-A933-55FF-B1431916F3B0}"/>
                </a:ext>
              </a:extLst>
            </p:cNvPr>
            <p:cNvSpPr/>
            <p:nvPr/>
          </p:nvSpPr>
          <p:spPr>
            <a:xfrm>
              <a:off x="1331640" y="3587006"/>
              <a:ext cx="2016224" cy="943107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Running = 0</a:t>
              </a:r>
              <a:endParaRPr lang="ko-KR" altLang="en-US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EC0F7AB-4161-C686-0144-ECCB795F774C}"/>
                </a:ext>
              </a:extLst>
            </p:cNvPr>
            <p:cNvSpPr/>
            <p:nvPr/>
          </p:nvSpPr>
          <p:spPr>
            <a:xfrm>
              <a:off x="5776793" y="3587006"/>
              <a:ext cx="2016224" cy="943107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dirty="0" err="1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NewBlock</a:t>
              </a:r>
              <a:r>
                <a:rPr lang="en-US" altLang="ko-KR" sz="14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 = 1</a:t>
              </a:r>
              <a:endParaRPr lang="ko-KR" altLang="en-US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7CF1A03-5175-ABEC-05E8-B115C263B3A6}"/>
                </a:ext>
              </a:extLst>
            </p:cNvPr>
            <p:cNvSpPr/>
            <p:nvPr/>
          </p:nvSpPr>
          <p:spPr>
            <a:xfrm>
              <a:off x="3563888" y="5582237"/>
              <a:ext cx="2016224" cy="943107"/>
            </a:xfrm>
            <a:prstGeom prst="ellipse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Finish = 2</a:t>
              </a:r>
              <a:endParaRPr lang="ko-KR" altLang="en-US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564E82F8-B8B2-2673-6CCB-DAEA696F2066}"/>
                </a:ext>
              </a:extLst>
            </p:cNvPr>
            <p:cNvCxnSpPr/>
            <p:nvPr/>
          </p:nvCxnSpPr>
          <p:spPr>
            <a:xfrm>
              <a:off x="3742531" y="3875038"/>
              <a:ext cx="1621557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9A266810-0B4C-7730-4B5C-3621B64EBA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1221" y="4163070"/>
              <a:ext cx="1621557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CC3FE0AE-6DE3-6FF1-4F45-8D24FBF2C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6793" y="4662952"/>
              <a:ext cx="1008112" cy="915111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81FC83B4-4F67-03CC-74AE-4BEBECD3B9FA}"/>
                </a:ext>
              </a:extLst>
            </p:cNvPr>
            <p:cNvCxnSpPr>
              <a:cxnSpLocks/>
            </p:cNvCxnSpPr>
            <p:nvPr/>
          </p:nvCxnSpPr>
          <p:spPr>
            <a:xfrm>
              <a:off x="2308818" y="4662952"/>
              <a:ext cx="1008112" cy="915111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D940F7-5DB3-F33B-5B83-093D7166CE91}"/>
                </a:ext>
              </a:extLst>
            </p:cNvPr>
            <p:cNvSpPr txBox="1"/>
            <p:nvPr/>
          </p:nvSpPr>
          <p:spPr>
            <a:xfrm>
              <a:off x="3601618" y="3454167"/>
              <a:ext cx="2551075" cy="40011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Key == ‘ ‘ Or</a:t>
              </a:r>
            </a:p>
            <a:p>
              <a:r>
                <a:rPr lang="en-US" altLang="ko-KR" sz="1000" dirty="0"/>
                <a:t>Key == ‘s’   At the ground</a:t>
              </a:r>
              <a:endParaRPr lang="ko-KR" altLang="en-US" sz="1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607CBE-1A33-BE2A-FB52-844ACEED54F6}"/>
                </a:ext>
              </a:extLst>
            </p:cNvPr>
            <p:cNvSpPr txBox="1"/>
            <p:nvPr/>
          </p:nvSpPr>
          <p:spPr>
            <a:xfrm>
              <a:off x="3563888" y="4195008"/>
              <a:ext cx="25510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Key == ‘ 0‘ ~ ‘6’  or </a:t>
              </a:r>
            </a:p>
            <a:p>
              <a:r>
                <a:rPr lang="en-US" altLang="ko-KR" sz="1000" dirty="0">
                  <a:solidFill>
                    <a:srgbClr val="FF0000"/>
                  </a:solidFill>
                </a:rPr>
                <a:t>After </a:t>
              </a:r>
              <a:r>
                <a:rPr lang="en-US" altLang="ko-KR" sz="1000" dirty="0"/>
                <a:t>Key == ‘ ‘ or 's’ at the ground</a:t>
              </a:r>
              <a:endParaRPr lang="ko-KR" altLang="en-US" sz="1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09CAC2D-267A-7D74-6CE8-0AB66EA6A638}"/>
                </a:ext>
              </a:extLst>
            </p:cNvPr>
            <p:cNvSpPr txBox="1"/>
            <p:nvPr/>
          </p:nvSpPr>
          <p:spPr>
            <a:xfrm>
              <a:off x="6300333" y="5018439"/>
              <a:ext cx="2551075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Conflict with new random block </a:t>
              </a:r>
            </a:p>
            <a:p>
              <a:r>
                <a:rPr lang="en-US" altLang="ko-KR" sz="1000" dirty="0"/>
                <a:t>Or</a:t>
              </a:r>
            </a:p>
            <a:p>
              <a:r>
                <a:rPr lang="en-US" altLang="ko-KR" sz="1000" dirty="0"/>
                <a:t>Key == ‘0’ ~ ‘6’ new block conflict</a:t>
              </a:r>
              <a:endParaRPr lang="ko-KR" altLang="en-US" sz="1000" dirty="0"/>
            </a:p>
          </p:txBody>
        </p:sp>
        <p:cxnSp>
          <p:nvCxnSpPr>
            <p:cNvPr id="22" name="연결선: 구부러짐 21">
              <a:extLst>
                <a:ext uri="{FF2B5EF4-FFF2-40B4-BE49-F238E27FC236}">
                  <a16:creationId xmlns:a16="http://schemas.microsoft.com/office/drawing/2014/main" id="{0148538C-A866-F273-F485-25DC9C925E5A}"/>
                </a:ext>
              </a:extLst>
            </p:cNvPr>
            <p:cNvCxnSpPr>
              <a:stCxn id="6" idx="1"/>
              <a:endCxn id="6" idx="0"/>
            </p:cNvCxnSpPr>
            <p:nvPr/>
          </p:nvCxnSpPr>
          <p:spPr>
            <a:xfrm rot="5400000" flipH="1" flipV="1">
              <a:off x="1914273" y="3299643"/>
              <a:ext cx="138115" cy="712843"/>
            </a:xfrm>
            <a:prstGeom prst="curvedConnector3">
              <a:avLst>
                <a:gd name="adj1" fmla="val 735923"/>
              </a:avLst>
            </a:prstGeom>
            <a:ln w="19050">
              <a:solidFill>
                <a:schemeClr val="accent1"/>
              </a:solidFill>
              <a:prstDash val="solid"/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C1C8E6-43F7-EB62-1DB5-1BBDC5BD4EC9}"/>
                </a:ext>
              </a:extLst>
            </p:cNvPr>
            <p:cNvSpPr txBox="1"/>
            <p:nvPr/>
          </p:nvSpPr>
          <p:spPr>
            <a:xfrm>
              <a:off x="2236949" y="2708920"/>
              <a:ext cx="25510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Key ==  ‘a‘, ’d’, ’s’, ’w’  and</a:t>
              </a:r>
            </a:p>
            <a:p>
              <a:r>
                <a:rPr lang="en-US" altLang="ko-KR" sz="1000" dirty="0"/>
                <a:t>No conflict with ground</a:t>
              </a:r>
              <a:endParaRPr lang="ko-KR" altLang="en-US" sz="1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6DCBE30-1824-6581-5A82-A6213340BBF2}"/>
                </a:ext>
              </a:extLst>
            </p:cNvPr>
            <p:cNvSpPr txBox="1"/>
            <p:nvPr/>
          </p:nvSpPr>
          <p:spPr>
            <a:xfrm>
              <a:off x="1983330" y="5008089"/>
              <a:ext cx="25510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Key == ‘q’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618352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</a:t>
            </a:r>
            <a:r>
              <a:rPr lang="en-US" altLang="ko-KR" spc="-1" dirty="0">
                <a:latin typeface="Calibri"/>
                <a:ea typeface="Arial Unicode MS"/>
              </a:rPr>
              <a:t>v3: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클래스의 </a:t>
            </a:r>
            <a:r>
              <a:rPr lang="en-US" altLang="ko-KR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accept()</a:t>
            </a:r>
            <a:endParaRPr kumimoji="1" lang="ko-Kore-KR" altLang="en-US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1579CFE-5D47-3C62-655E-414F5B801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760"/>
            <a:ext cx="4392488" cy="144780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D555C1C-F05A-68EF-8AFC-3BFD50E8A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499030"/>
            <a:ext cx="5258534" cy="126700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0959" y="491243"/>
            <a:ext cx="3526225" cy="1800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9592" y="2780928"/>
            <a:ext cx="7992888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NewBlock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상태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ko-KR" altLang="en-US" sz="1500" dirty="0"/>
              <a:t>현재 </a:t>
            </a:r>
            <a:r>
              <a:rPr lang="en-US" altLang="ko-KR" sz="1500" dirty="0"/>
              <a:t>accept </a:t>
            </a:r>
            <a:r>
              <a:rPr lang="ko-KR" altLang="en-US" sz="1500" dirty="0"/>
              <a:t>함수에서 </a:t>
            </a:r>
            <a:r>
              <a:rPr lang="en-US" altLang="ko-KR" sz="1500" dirty="0" err="1"/>
              <a:t>newblock</a:t>
            </a:r>
            <a:r>
              <a:rPr lang="en-US" altLang="ko-KR" sz="1500" dirty="0"/>
              <a:t> </a:t>
            </a:r>
            <a:r>
              <a:rPr lang="ko-KR" altLang="en-US" sz="1500" dirty="0"/>
              <a:t>상태로 들어왔다면 어떤 처리를 할지</a:t>
            </a:r>
            <a:r>
              <a:rPr lang="en-US" altLang="ko-KR" sz="1500" dirty="0"/>
              <a:t>?</a:t>
            </a:r>
          </a:p>
          <a:p>
            <a:r>
              <a:rPr lang="en-US" altLang="ko-KR" sz="1500" dirty="0"/>
              <a:t> 〮 </a:t>
            </a:r>
            <a:r>
              <a:rPr lang="en-US" altLang="ko-KR" sz="1500" dirty="0" err="1"/>
              <a:t>New_block</a:t>
            </a:r>
            <a:r>
              <a:rPr lang="en-US" altLang="ko-KR" sz="1500" dirty="0"/>
              <a:t> </a:t>
            </a:r>
            <a:r>
              <a:rPr lang="ko-KR" altLang="en-US" sz="1500" dirty="0"/>
              <a:t>생성시 바로 충돌 발생 시</a:t>
            </a:r>
            <a:r>
              <a:rPr lang="en-US" altLang="ko-KR" sz="1500" dirty="0"/>
              <a:t>? </a:t>
            </a:r>
          </a:p>
          <a:p>
            <a:r>
              <a:rPr lang="en-US" altLang="ko-KR" sz="1500" dirty="0"/>
              <a:t>   - </a:t>
            </a:r>
            <a:r>
              <a:rPr lang="en-US" altLang="ko-KR" sz="1500" dirty="0" err="1"/>
              <a:t>tetris</a:t>
            </a:r>
            <a:r>
              <a:rPr lang="en-US" altLang="ko-KR" sz="1500" dirty="0"/>
              <a:t> state </a:t>
            </a:r>
            <a:r>
              <a:rPr lang="ko-KR" altLang="en-US" sz="1500" dirty="0"/>
              <a:t>자동으로 </a:t>
            </a:r>
            <a:r>
              <a:rPr lang="en-US" altLang="ko-KR" sz="1500" dirty="0"/>
              <a:t>finish</a:t>
            </a:r>
            <a:r>
              <a:rPr lang="ko-KR" altLang="en-US" sz="1500" dirty="0"/>
              <a:t>로 </a:t>
            </a:r>
            <a:r>
              <a:rPr lang="ko-KR" altLang="en-US" sz="1500" dirty="0" err="1"/>
              <a:t>변경후</a:t>
            </a:r>
            <a:r>
              <a:rPr lang="ko-KR" altLang="en-US" sz="1500" dirty="0"/>
              <a:t> </a:t>
            </a:r>
            <a:r>
              <a:rPr lang="en-US" altLang="ko-KR" sz="1500" dirty="0"/>
              <a:t>game over </a:t>
            </a:r>
            <a:r>
              <a:rPr lang="ko-KR" altLang="en-US" sz="1500" dirty="0"/>
              <a:t>출력</a:t>
            </a:r>
            <a:endParaRPr lang="en-US" altLang="ko-KR" sz="1500" dirty="0"/>
          </a:p>
          <a:p>
            <a:r>
              <a:rPr lang="en-US" altLang="ko-KR" sz="1500" dirty="0"/>
              <a:t> 〮 </a:t>
            </a:r>
            <a:r>
              <a:rPr lang="ko-KR" altLang="en-US" sz="1500" dirty="0"/>
              <a:t>출동 없었다면</a:t>
            </a:r>
            <a:r>
              <a:rPr lang="en-US" altLang="ko-KR" sz="1500" dirty="0"/>
              <a:t>?</a:t>
            </a:r>
          </a:p>
          <a:p>
            <a:r>
              <a:rPr lang="en-US" altLang="ko-KR" sz="1500" dirty="0"/>
              <a:t>   - Running </a:t>
            </a:r>
            <a:r>
              <a:rPr lang="ko-KR" altLang="en-US" sz="1500" dirty="0"/>
              <a:t>상태로 변경 후 </a:t>
            </a:r>
            <a:r>
              <a:rPr lang="en-US" altLang="ko-KR" sz="1500" dirty="0"/>
              <a:t>return </a:t>
            </a:r>
            <a:endParaRPr lang="ko-KR" altLang="en-US" sz="1500" dirty="0"/>
          </a:p>
        </p:txBody>
      </p:sp>
      <p:sp>
        <p:nvSpPr>
          <p:cNvPr id="24" name="TextBox 23"/>
          <p:cNvSpPr txBox="1"/>
          <p:nvPr/>
        </p:nvSpPr>
        <p:spPr>
          <a:xfrm>
            <a:off x="899592" y="5827916"/>
            <a:ext cx="7992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&lt;accept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마지막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block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 필요할 때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en-US" altLang="ko-KR" sz="1500" dirty="0"/>
              <a:t>Running </a:t>
            </a:r>
            <a:r>
              <a:rPr lang="ko-KR" altLang="en-US" sz="1500" dirty="0"/>
              <a:t>상태에서 새로운 블록이 바로 필요하다면</a:t>
            </a:r>
            <a:r>
              <a:rPr lang="en-US" altLang="ko-KR" sz="1500" dirty="0"/>
              <a:t>? </a:t>
            </a:r>
          </a:p>
          <a:p>
            <a:r>
              <a:rPr lang="en-US" altLang="ko-KR" sz="1500" dirty="0"/>
              <a:t> 〮 </a:t>
            </a:r>
            <a:r>
              <a:rPr lang="ko-KR" altLang="en-US" sz="1500" dirty="0"/>
              <a:t>내부에서 바로 </a:t>
            </a:r>
            <a:r>
              <a:rPr lang="en-US" altLang="ko-KR" sz="1500" dirty="0" err="1"/>
              <a:t>new_block</a:t>
            </a:r>
            <a:r>
              <a:rPr lang="ko-KR" altLang="en-US" sz="1500" dirty="0"/>
              <a:t>으로 상태 변경 후</a:t>
            </a:r>
            <a:r>
              <a:rPr lang="en-US" altLang="ko-KR" sz="1500" dirty="0"/>
              <a:t> </a:t>
            </a:r>
            <a:r>
              <a:rPr lang="en-US" altLang="ko-KR" sz="1500" dirty="0" err="1"/>
              <a:t>new_block</a:t>
            </a:r>
            <a:r>
              <a:rPr lang="en-US" altLang="ko-KR" sz="1500" dirty="0"/>
              <a:t> </a:t>
            </a:r>
            <a:r>
              <a:rPr lang="ko-KR" altLang="en-US" sz="1500" dirty="0"/>
              <a:t>함수도 바로 수행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7C05D04-A68E-AAB6-B343-D7B4ECCFAC95}"/>
              </a:ext>
            </a:extLst>
          </p:cNvPr>
          <p:cNvCxnSpPr/>
          <p:nvPr/>
        </p:nvCxnSpPr>
        <p:spPr>
          <a:xfrm>
            <a:off x="457200" y="4363414"/>
            <a:ext cx="792088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83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DC56-A87B-4BE4-FFB3-45F934BE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AD771-4ED5-7441-A6E1-67528CD8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</a:t>
            </a:r>
            <a:r>
              <a:rPr lang="en-US" altLang="ko-KR" spc="-1" dirty="0">
                <a:latin typeface="Calibri"/>
                <a:ea typeface="Arial Unicode MS"/>
              </a:rPr>
              <a:t>v3: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클래스의 </a:t>
            </a:r>
            <a:r>
              <a:rPr lang="en-US" altLang="ko-KR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accept()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DC3DD0-F198-872C-7488-038ADDEE3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933089"/>
            <a:ext cx="5074167" cy="221599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564" y="404664"/>
            <a:ext cx="3654008" cy="18654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9592" y="4367371"/>
            <a:ext cx="799288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&lt;Finish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상태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en-US" altLang="ko-KR" sz="1500" dirty="0"/>
              <a:t> 〮 key == ‘q’ </a:t>
            </a:r>
          </a:p>
          <a:p>
            <a:r>
              <a:rPr lang="en-US" altLang="ko-KR" sz="1500" dirty="0"/>
              <a:t>   - </a:t>
            </a:r>
            <a:r>
              <a:rPr lang="ko-KR" altLang="en-US" sz="1500" dirty="0"/>
              <a:t>게임을 종료하겠다는 </a:t>
            </a:r>
            <a:r>
              <a:rPr lang="en-US" altLang="ko-KR" sz="1500" dirty="0"/>
              <a:t>key</a:t>
            </a:r>
            <a:r>
              <a:rPr lang="ko-KR" altLang="en-US" sz="1500" dirty="0"/>
              <a:t>이기 때문에 </a:t>
            </a:r>
            <a:r>
              <a:rPr lang="en-US" altLang="ko-KR" sz="1500" dirty="0"/>
              <a:t>game </a:t>
            </a:r>
            <a:r>
              <a:rPr lang="ko-KR" altLang="en-US" sz="1500" dirty="0"/>
              <a:t>강제종료 출력</a:t>
            </a:r>
            <a:endParaRPr lang="en-US" altLang="ko-KR" sz="1500" dirty="0"/>
          </a:p>
          <a:p>
            <a:r>
              <a:rPr lang="en-US" altLang="ko-KR" sz="1500" dirty="0"/>
              <a:t>   - </a:t>
            </a:r>
            <a:r>
              <a:rPr lang="en-US" altLang="ko-KR" sz="1500" dirty="0" err="1"/>
              <a:t>tetris</a:t>
            </a:r>
            <a:r>
              <a:rPr lang="en-US" altLang="ko-KR" sz="1500" dirty="0"/>
              <a:t> state finish</a:t>
            </a:r>
            <a:r>
              <a:rPr lang="ko-KR" altLang="en-US" sz="1500" dirty="0"/>
              <a:t>로 변경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 〮 </a:t>
            </a:r>
            <a:r>
              <a:rPr lang="ko-KR" altLang="en-US" sz="1500" dirty="0"/>
              <a:t>바로 </a:t>
            </a:r>
            <a:r>
              <a:rPr lang="en-US" altLang="ko-KR" sz="1500" dirty="0"/>
              <a:t>Finish </a:t>
            </a:r>
            <a:r>
              <a:rPr lang="ko-KR" altLang="en-US" sz="1500" dirty="0"/>
              <a:t>상태로 </a:t>
            </a:r>
            <a:r>
              <a:rPr lang="en-US" altLang="ko-KR" sz="1500" dirty="0"/>
              <a:t>accept</a:t>
            </a:r>
            <a:r>
              <a:rPr lang="ko-KR" altLang="en-US" sz="1500" dirty="0"/>
              <a:t>에 들어왔다면</a:t>
            </a:r>
            <a:endParaRPr lang="en-US" altLang="ko-KR" sz="1500" dirty="0"/>
          </a:p>
          <a:p>
            <a:r>
              <a:rPr lang="en-US" altLang="ko-KR" sz="1500" dirty="0"/>
              <a:t>   - </a:t>
            </a:r>
            <a:r>
              <a:rPr lang="ko-KR" altLang="en-US" sz="1500" dirty="0"/>
              <a:t>새로운 블록 생성시 바로 충돌한다면 </a:t>
            </a:r>
            <a:r>
              <a:rPr lang="en-US" altLang="ko-KR" sz="1500" dirty="0"/>
              <a:t>finish </a:t>
            </a:r>
            <a:r>
              <a:rPr lang="ko-KR" altLang="en-US" sz="1500" dirty="0"/>
              <a:t>상태로 변경 됨</a:t>
            </a:r>
            <a:endParaRPr lang="en-US" altLang="ko-KR" sz="1500" dirty="0"/>
          </a:p>
          <a:p>
            <a:r>
              <a:rPr lang="en-US" altLang="ko-KR" sz="1500" dirty="0"/>
              <a:t>   - </a:t>
            </a:r>
            <a:r>
              <a:rPr lang="ko-KR" altLang="en-US" sz="1500" dirty="0"/>
              <a:t>이때 </a:t>
            </a:r>
            <a:r>
              <a:rPr lang="en-US" altLang="ko-KR" sz="1500" dirty="0"/>
              <a:t>finish </a:t>
            </a:r>
            <a:r>
              <a:rPr lang="ko-KR" altLang="en-US" sz="1500" dirty="0"/>
              <a:t>상태로 </a:t>
            </a:r>
            <a:r>
              <a:rPr lang="en-US" altLang="ko-KR" sz="1500" dirty="0"/>
              <a:t>accept</a:t>
            </a:r>
            <a:r>
              <a:rPr lang="ko-KR" altLang="en-US" sz="1500" dirty="0"/>
              <a:t>에 들어오게 됨</a:t>
            </a:r>
            <a:endParaRPr lang="en-US" altLang="ko-KR" sz="1500" dirty="0"/>
          </a:p>
          <a:p>
            <a:r>
              <a:rPr lang="en-US" altLang="ko-KR" sz="1500" dirty="0"/>
              <a:t>   - game over </a:t>
            </a:r>
            <a:r>
              <a:rPr lang="ko-KR" altLang="en-US" sz="1500" dirty="0"/>
              <a:t>출력 후 종료</a:t>
            </a:r>
          </a:p>
        </p:txBody>
      </p:sp>
    </p:spTree>
    <p:extLst>
      <p:ext uri="{BB962C8B-B14F-4D97-AF65-F5344CB8AC3E}">
        <p14:creationId xmlns:p14="http://schemas.microsoft.com/office/powerpoint/2010/main" val="716851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80F5-5DF1-ED7B-4AFB-B6F4655A0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1AAB8-CF1D-2CC8-BCF4-8C4DC491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</a:t>
            </a:r>
            <a:r>
              <a:rPr lang="en-US" altLang="ko-KR" spc="-1" dirty="0">
                <a:latin typeface="Calibri"/>
                <a:ea typeface="Arial Unicode MS"/>
              </a:rPr>
              <a:t>v3: Tetris </a:t>
            </a:r>
            <a:r>
              <a:rPr lang="ko-KR" altLang="en-US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클래스의 </a:t>
            </a:r>
            <a:r>
              <a:rPr lang="en-US" altLang="ko-KR" spc="-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accept()</a:t>
            </a:r>
            <a:endParaRPr kumimoji="1" lang="ko-Kore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56AD3A6-2EFC-596B-172A-C7634A0CEA57}"/>
              </a:ext>
            </a:extLst>
          </p:cNvPr>
          <p:cNvSpPr/>
          <p:nvPr/>
        </p:nvSpPr>
        <p:spPr>
          <a:xfrm>
            <a:off x="6012160" y="548680"/>
            <a:ext cx="2016224" cy="943107"/>
          </a:xfrm>
          <a:prstGeom prst="ellipse">
            <a:avLst/>
          </a:prstGeom>
          <a:solidFill>
            <a:srgbClr val="FF3300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Running = 0</a:t>
            </a:r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8348B3-715C-48DB-D389-6E9C11920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772816"/>
            <a:ext cx="5209621" cy="4608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36096" y="2060848"/>
            <a:ext cx="4032448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&lt;Running </a:t>
            </a:r>
            <a:r>
              <a:rPr lang="ko-KR" altLang="en-US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상태</a:t>
            </a:r>
            <a:r>
              <a:rPr lang="en-US" altLang="ko-KR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en-US" altLang="ko-KR" sz="1200" dirty="0"/>
              <a:t> 〮 </a:t>
            </a:r>
            <a:r>
              <a:rPr lang="ko-KR" altLang="en-US" sz="1200" dirty="0"/>
              <a:t>대부분의 </a:t>
            </a:r>
            <a:r>
              <a:rPr lang="en-US" altLang="ko-KR" sz="1200" dirty="0"/>
              <a:t>key </a:t>
            </a:r>
            <a:r>
              <a:rPr lang="ko-KR" altLang="en-US" sz="1200" dirty="0"/>
              <a:t>처리</a:t>
            </a:r>
            <a:endParaRPr lang="en-US" altLang="ko-KR" sz="1200" dirty="0"/>
          </a:p>
          <a:p>
            <a:r>
              <a:rPr lang="en-US" altLang="ko-KR" sz="1200" dirty="0"/>
              <a:t> 〮 </a:t>
            </a:r>
            <a:r>
              <a:rPr lang="ko-KR" altLang="en-US" sz="1200" dirty="0"/>
              <a:t>충돌 시 블록 처리</a:t>
            </a:r>
            <a:endParaRPr lang="en-US" altLang="ko-KR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5580112" y="3327031"/>
            <a:ext cx="3456384" cy="16158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&lt;accept</a:t>
            </a:r>
            <a:r>
              <a:rPr lang="ko-KR" altLang="en-US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변경 사항</a:t>
            </a:r>
            <a:r>
              <a:rPr lang="en-US" altLang="ko-KR" sz="1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en-US" altLang="ko-KR" sz="1200" dirty="0"/>
              <a:t> 〮 </a:t>
            </a:r>
            <a:r>
              <a:rPr lang="ko-KR" altLang="en-US" sz="1200" dirty="0"/>
              <a:t>블록을 결정할 수 있도록</a:t>
            </a:r>
            <a:endParaRPr lang="en-US" altLang="ko-KR" sz="1200" dirty="0"/>
          </a:p>
          <a:p>
            <a:r>
              <a:rPr lang="en-US" altLang="ko-KR" sz="1200" dirty="0"/>
              <a:t> 〮 </a:t>
            </a:r>
            <a:r>
              <a:rPr lang="ko-KR" altLang="en-US" sz="1200" dirty="0"/>
              <a:t>블록조작 및 생성정보를 하나의 인자로 처리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FSM</a:t>
            </a:r>
            <a:r>
              <a:rPr lang="ko-KR" altLang="en-US" sz="1200" dirty="0"/>
              <a:t>설계원칙 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입력 하나가 상태를 결정해야 함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입력 통합처리 구조 구현</a:t>
            </a:r>
            <a:endParaRPr lang="en-US" altLang="ko-KR" sz="1200" dirty="0"/>
          </a:p>
          <a:p>
            <a:endParaRPr lang="en-US" altLang="ko-KR" sz="1200" dirty="0"/>
          </a:p>
        </p:txBody>
      </p:sp>
      <p:sp>
        <p:nvSpPr>
          <p:cNvPr id="8" name="직사각형 7"/>
          <p:cNvSpPr/>
          <p:nvPr/>
        </p:nvSpPr>
        <p:spPr>
          <a:xfrm>
            <a:off x="251520" y="3519542"/>
            <a:ext cx="2016224" cy="43204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D228900-2CFE-6FC5-13D9-1269D9D5E6B3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267744" y="3735566"/>
            <a:ext cx="3312368" cy="399379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381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1027" name="Picture 3" descr="C:\Users\Kilho Lee\Dropbox\Research documents\Lab_misc\연구실로고\MISYS 세로-컬러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76" y="2276872"/>
            <a:ext cx="2195944" cy="17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54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85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D0D0D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979</Words>
  <Application>Microsoft Office PowerPoint</Application>
  <PresentationFormat>화면 슬라이드 쇼(4:3)</PresentationFormat>
  <Paragraphs>148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Arial Unicode MS</vt:lpstr>
      <vt:lpstr>맑은 고딕</vt:lpstr>
      <vt:lpstr>맑은 고딕</vt:lpstr>
      <vt:lpstr>Arial</vt:lpstr>
      <vt:lpstr>Calibri</vt:lpstr>
      <vt:lpstr>Symbol</vt:lpstr>
      <vt:lpstr>Office 테마</vt:lpstr>
      <vt:lpstr>TETRIS (Python) P#2 Progress Report 2025.06.30</vt:lpstr>
      <vt:lpstr>Outline</vt:lpstr>
      <vt:lpstr>1. Problems and Requirements</vt:lpstr>
      <vt:lpstr>  1. Implementation - v1: Tetris 클래스 작성   </vt:lpstr>
      <vt:lpstr>  1. Implementation - v1: Tetris 클래스 작성   </vt:lpstr>
      <vt:lpstr>1. Implementation - v1: Tetris 클래스 작성</vt:lpstr>
      <vt:lpstr>1. Implementation - v1: Tetris 클래스 작성</vt:lpstr>
      <vt:lpstr>1. Implementation - v1: Tetris 클래스 작성</vt:lpstr>
      <vt:lpstr>1. Implementation - v1: Tetris 클래스 작성</vt:lpstr>
      <vt:lpstr>1. Implementation - v1: Tetris 클래스 작성</vt:lpstr>
      <vt:lpstr>   2. Implementation - v2: Tetris 클래스 검증 (복수 객체)    </vt:lpstr>
      <vt:lpstr>4. v4: Tetris 클래스에 enum 타입 적용</vt:lpstr>
      <vt:lpstr>3. v3: Tetris 클래스의 accept()</vt:lpstr>
      <vt:lpstr>3. v3: Tetris 클래스의 accept()</vt:lpstr>
      <vt:lpstr>3. v3: Tetris 클래스의 accept()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TETRIS (Python) P#2 Progress Report 2025.06.30</dc:title>
  <dc:creator/>
  <cp:lastModifiedBy>김찬형</cp:lastModifiedBy>
  <cp:revision>23</cp:revision>
  <dcterms:created xsi:type="dcterms:W3CDTF">2022-07-04T05:58:26Z</dcterms:created>
  <dcterms:modified xsi:type="dcterms:W3CDTF">2025-06-29T23:38:42Z</dcterms:modified>
</cp:coreProperties>
</file>