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604" r:id="rId3"/>
    <p:sldId id="682" r:id="rId4"/>
    <p:sldId id="686" r:id="rId5"/>
    <p:sldId id="669" r:id="rId6"/>
    <p:sldId id="687" r:id="rId7"/>
    <p:sldId id="692" r:id="rId8"/>
    <p:sldId id="688" r:id="rId9"/>
    <p:sldId id="691" r:id="rId10"/>
    <p:sldId id="690" r:id="rId11"/>
    <p:sldId id="689" r:id="rId12"/>
    <p:sldId id="603" r:id="rId13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CC3300"/>
    <a:srgbClr val="BFBFBF"/>
    <a:srgbClr val="FDE8BF"/>
    <a:srgbClr val="3988A1"/>
    <a:srgbClr val="0D0D0D"/>
    <a:srgbClr val="F9C5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3729" autoAdjust="0"/>
  </p:normalViewPr>
  <p:slideViewPr>
    <p:cSldViewPr>
      <p:cViewPr varScale="1">
        <p:scale>
          <a:sx n="77" d="100"/>
          <a:sy n="77" d="100"/>
        </p:scale>
        <p:origin x="1646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60" y="422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08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A35B8F-D6B8-4B1A-BED5-DBBA10E46047}" type="datetimeFigureOut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2B4096-A3A2-4F30-BA97-9793FEF49C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347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7575" y="744538"/>
            <a:ext cx="4962525" cy="3722687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5315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2B4096-A3A2-4F30-BA97-9793FEF49C6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7673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30"/>
            <a:ext cx="7772400" cy="1470025"/>
          </a:xfrm>
        </p:spPr>
        <p:txBody>
          <a:bodyPr>
            <a:normAutofit/>
          </a:bodyPr>
          <a:lstStyle>
            <a:lvl1pPr algn="r">
              <a:defRPr sz="3200">
                <a:latin typeface="Calibri" panose="020F050202020403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9644B-26F1-4A77-80B4-864CA05B8475}" type="datetime1">
              <a:rPr lang="ko-KR" altLang="en-US" smtClean="0"/>
              <a:t>2025-07-15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9412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1800">
                <a:latin typeface="Calibri" panose="020F0502020204030204" pitchFamily="34" charset="0"/>
                <a:cs typeface="Times New Roman" panose="02020603050405020304" pitchFamily="18" charset="0"/>
              </a:defRPr>
            </a:lvl1pPr>
            <a:lvl2pPr>
              <a:defRPr sz="1600">
                <a:latin typeface="Calibri" panose="020F0502020204030204" pitchFamily="34" charset="0"/>
                <a:cs typeface="Times New Roman" panose="02020603050405020304" pitchFamily="18" charset="0"/>
              </a:defRPr>
            </a:lvl2pPr>
            <a:lvl3pPr>
              <a:defRPr sz="1400"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>
              <a:defRPr sz="1200"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>
              <a:defRPr sz="1100">
                <a:latin typeface="Calibri" panose="020F0502020204030204" pitchFamily="34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91A0DF-1D7A-48E6-A273-4781B29FC3A2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75681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3"/>
            <a:ext cx="77724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D2639C-9C54-4D59-B63B-6A40A62DDA1D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345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2F800-C452-4BB4-A29E-1C525AD1212C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40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6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33" y="1535116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33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3696B-9AD2-44FF-BD2C-41BB452FE4A1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4030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anose="020F050202020403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7C143-B4F5-4116-B5F3-D83AE60017C9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181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D5BDB4-7A29-41E6-A346-B23989C956FF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867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8" y="27305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8" y="1435104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4CB53D-6090-4BEC-A9F8-8A6C8FC86260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355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2BAD-40F7-494C-9C1B-FB21063E74DF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084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76FA3-784D-405C-B6FF-9C59F33B3B76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27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42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CA628-0F48-49DD-B493-CEE122CBE4E3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90018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A4631-7260-4D4B-B3D4-7EB9234DBA31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직사각형 5"/>
          <p:cNvSpPr/>
          <p:nvPr userDrawn="1"/>
        </p:nvSpPr>
        <p:spPr>
          <a:xfrm>
            <a:off x="7452320" y="0"/>
            <a:ext cx="1691680" cy="1691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1874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7A4631-7260-4D4B-B3D4-7EB9234DBA31}" type="datetime1">
              <a:rPr lang="ko-KR" altLang="en-US" smtClean="0"/>
              <a:t>2025-07-15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B317-83B7-4971-80D5-D7FE424AC18D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2" descr="https://lh3.googleusercontent.com/7G5NeQaGWmu01aZuzBN_jiCGqCDE7K5O5eT9dAI2oTRIleTQ1ZvQStLFLybGdWJpsRLjc-ihlfhXlahZ-NP8vJHuH2PR9wRRX8KpZQxeld-u0W6Fuw=w1280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2073" y="121196"/>
            <a:ext cx="1468686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https://lh3.googleusercontent.com/HKTsDQnD5XDpENfjlrGI0oK4fnM6tz3yUgSN00wgKjgtsgfo32sBuriKTsuTV7vI8iKOmSGJaBZESUATbvat2CPWxBdpat2GxJ4xHApashfSLjrW-4s=w1280"/>
          <p:cNvPicPr>
            <a:picLocks noChangeAspect="1" noChangeArrowheads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442978" y="465791"/>
            <a:ext cx="593518" cy="23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1267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400" b="1" kern="1200">
          <a:solidFill>
            <a:srgbClr val="0070C0"/>
          </a:solidFill>
          <a:latin typeface="Calibri" panose="020F0502020204030204" pitchFamily="34" charset="0"/>
          <a:ea typeface="Arial Unicode MS" panose="020B0604020202020204" pitchFamily="50" charset="-127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Calibri" panose="020F050202020403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323528" y="2130430"/>
            <a:ext cx="8136904" cy="1470025"/>
          </a:xfrm>
        </p:spPr>
        <p:txBody>
          <a:bodyPr>
            <a:noAutofit/>
          </a:bodyPr>
          <a:lstStyle/>
          <a:p>
            <a:r>
              <a:rPr lang="en-US" altLang="ko-KR" sz="2800" dirty="0"/>
              <a:t>TETRIS</a:t>
            </a:r>
            <a:r>
              <a:rPr lang="ko-KR" altLang="en-US" sz="2800" dirty="0"/>
              <a:t> </a:t>
            </a:r>
            <a:r>
              <a:rPr lang="en-US" altLang="ko-KR" sz="2800" dirty="0"/>
              <a:t>(Python) P#3</a:t>
            </a:r>
            <a:br>
              <a:rPr lang="en-US" altLang="ko-KR" sz="2800" dirty="0"/>
            </a:br>
            <a:r>
              <a:rPr lang="en-US" altLang="ko-KR" sz="2000" dirty="0"/>
              <a:t>Progress Report 2025.07.16</a:t>
            </a:r>
            <a:endParaRPr lang="ko-KR" altLang="en-US" sz="20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67544" y="4437112"/>
            <a:ext cx="7992888" cy="1512168"/>
          </a:xfrm>
        </p:spPr>
        <p:txBody>
          <a:bodyPr>
            <a:normAutofit/>
          </a:bodyPr>
          <a:lstStyle/>
          <a:p>
            <a:r>
              <a:rPr lang="en-US" altLang="ko-KR" b="1" dirty="0" err="1">
                <a:solidFill>
                  <a:schemeClr val="tx1"/>
                </a:solidFill>
              </a:rPr>
              <a:t>ChanHyung</a:t>
            </a:r>
            <a:r>
              <a:rPr lang="en-US" altLang="ko-KR" b="1" dirty="0">
                <a:solidFill>
                  <a:schemeClr val="tx1"/>
                </a:solidFill>
              </a:rPr>
              <a:t> Kim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School of AI Convergence, SSU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94058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Outline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V1 : </a:t>
            </a:r>
            <a:r>
              <a:rPr lang="en-US" altLang="ko-KR" sz="2400" dirty="0"/>
              <a:t>8 Handler Definitions</a:t>
            </a:r>
          </a:p>
          <a:p>
            <a:pPr marL="457200" indent="-457200">
              <a:buFont typeface="+mj-lt"/>
              <a:buAutoNum type="arabicPeriod"/>
            </a:pPr>
            <a:r>
              <a:rPr kumimoji="1" lang="en-US" altLang="en-US" sz="2400" dirty="0"/>
              <a:t>V2 : </a:t>
            </a:r>
            <a:r>
              <a:rPr lang="en-US" altLang="ko-KR" sz="2400" dirty="0"/>
              <a:t>Tetris key Action</a:t>
            </a:r>
            <a:r>
              <a:rPr lang="ko-KR" altLang="en-US" sz="2400" dirty="0"/>
              <a:t> </a:t>
            </a:r>
            <a:r>
              <a:rPr lang="en-US" altLang="ko-KR" sz="2400" dirty="0"/>
              <a:t>Definitions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ko-KR" sz="2400" dirty="0" err="1"/>
              <a:t>Ctetris</a:t>
            </a:r>
            <a:r>
              <a:rPr lang="en-US" altLang="ko-KR" sz="2400" dirty="0"/>
              <a:t> class : inherits from the Tetris class </a:t>
            </a:r>
            <a:endParaRPr lang="ko-KR" altLang="en-US" sz="24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610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Implementation – V1(8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handler</a:t>
            </a:r>
            <a:r>
              <a:rPr kumimoji="1" lang="en-US" altLang="en-US" dirty="0"/>
              <a:t>)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B8A6F3-2DA9-8D37-EE79-C0165DB48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1484784"/>
            <a:ext cx="2381582" cy="8383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99BFF62-B467-491D-16F7-2D1180DB0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534" y="1196752"/>
            <a:ext cx="3950096" cy="556991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F413B6-12A0-C9B2-91F0-F509BFFDFE9C}"/>
              </a:ext>
            </a:extLst>
          </p:cNvPr>
          <p:cNvSpPr txBox="1"/>
          <p:nvPr/>
        </p:nvSpPr>
        <p:spPr>
          <a:xfrm>
            <a:off x="35554" y="2742260"/>
            <a:ext cx="4752469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1.  Action Handler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라는 추상클래스 생성</a:t>
            </a:r>
            <a:endParaRPr lang="en-US" altLang="ko-KR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블록 관련 이동사항을 통합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코드의 일관성 유지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-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확장성 편이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2.  Plug in 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구조를 위해 블록 관련 </a:t>
            </a: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8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개 </a:t>
            </a:r>
            <a:r>
              <a:rPr lang="en-US" altLang="ko-KR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class </a:t>
            </a:r>
            <a:r>
              <a:rPr lang="ko-KR" altLang="en-US" sz="1800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생성</a:t>
            </a:r>
            <a:endParaRPr lang="en-US" altLang="ko-KR" sz="1800" b="0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(Handler class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정의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8FBF8B-AE6E-3C35-3B84-33727665A3BA}"/>
              </a:ext>
            </a:extLst>
          </p:cNvPr>
          <p:cNvSpPr txBox="1"/>
          <p:nvPr/>
        </p:nvSpPr>
        <p:spPr>
          <a:xfrm>
            <a:off x="107504" y="5258289"/>
            <a:ext cx="4968552" cy="144655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Bef>
                <a:spcPts val="360"/>
              </a:spcBef>
            </a:pPr>
            <a:r>
              <a:rPr lang="en-US" altLang="ko-KR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&lt;plugin </a:t>
            </a:r>
            <a:r>
              <a:rPr lang="ko-KR" altLang="en-US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방식</a:t>
            </a:r>
            <a:r>
              <a:rPr lang="en-US" altLang="ko-KR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r>
              <a:rPr lang="ko-KR" altLang="en-US" b="0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본체 유지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기능 추가 및 변경 시 외부에서 별도의 모듈 꽂아 넣는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듯한 구조</a:t>
            </a:r>
            <a:endParaRPr lang="en-US" altLang="ko-KR" sz="150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      (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이를 위해서 </a:t>
            </a:r>
            <a:r>
              <a:rPr lang="ko-KR" altLang="en-US" sz="150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핸들러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정의함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)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endParaRPr lang="en-US" altLang="ko-KR" sz="1500" b="0" spc="-1" dirty="0">
              <a:solidFill>
                <a:srgbClr val="000000"/>
              </a:solidFill>
              <a:latin typeface="Calibri"/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81BA5747-CA8B-801A-B8FF-100EFC435B42}"/>
              </a:ext>
            </a:extLst>
          </p:cNvPr>
          <p:cNvCxnSpPr>
            <a:cxnSpLocks/>
          </p:cNvCxnSpPr>
          <p:nvPr/>
        </p:nvCxnSpPr>
        <p:spPr>
          <a:xfrm>
            <a:off x="3415251" y="1903943"/>
            <a:ext cx="1362834" cy="12889"/>
          </a:xfrm>
          <a:prstGeom prst="straightConnector1">
            <a:avLst/>
          </a:prstGeom>
          <a:ln w="19050">
            <a:solidFill>
              <a:srgbClr val="0D0D0D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90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5B0CF-BDCB-5042-95ED-3B3DA12A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DB590-96AB-113B-6C5F-AB28A923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1. Implementation – V1(8</a:t>
            </a:r>
            <a:r>
              <a:rPr kumimoji="1" lang="ko-KR" altLang="en-US" dirty="0"/>
              <a:t>개의 </a:t>
            </a:r>
            <a:r>
              <a:rPr kumimoji="1" lang="en-US" altLang="ko-KR" dirty="0"/>
              <a:t>handler</a:t>
            </a:r>
            <a:r>
              <a:rPr kumimoji="1" lang="en-US" altLang="en-US" dirty="0"/>
              <a:t>)</a:t>
            </a:r>
            <a:endParaRPr kumimoji="1" lang="ko-Kore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BB5602F-57C6-C7E4-0789-7E1DB3F23F1A}"/>
              </a:ext>
            </a:extLst>
          </p:cNvPr>
          <p:cNvSpPr txBox="1"/>
          <p:nvPr/>
        </p:nvSpPr>
        <p:spPr>
          <a:xfrm>
            <a:off x="4572000" y="3429000"/>
            <a:ext cx="46805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Tetris class </a:t>
            </a:r>
            <a:r>
              <a:rPr lang="ko-KR" altLang="en-US" sz="1800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내 이동 함수 분리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명확한 역할 분리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</a:t>
            </a:r>
            <a:r>
              <a:rPr lang="ko-KR" altLang="en-US" sz="1500" b="0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핸들러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클래스는 이동 방향만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  - Tetris Class</a:t>
            </a:r>
            <a:r>
              <a:rPr lang="ko-KR" altLang="en-US" sz="1500" b="0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는 실제 게임 로직 담당</a:t>
            </a:r>
            <a:endParaRPr lang="en-US" altLang="ko-KR" sz="15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endParaRPr lang="en-US" altLang="ko-KR" sz="16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유지보수성 및 확장성 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이동 로직을 한 곳에서 관리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이동 로직 변경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/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추가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/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수정 용이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b="1" spc="-1" dirty="0">
                <a:solidFill>
                  <a:srgbClr val="000000"/>
                </a:solidFill>
                <a:latin typeface="Calibri"/>
              </a:rPr>
              <a:t>중복 코드 생략</a:t>
            </a:r>
            <a:endParaRPr lang="en-US" altLang="ko-KR" sz="1600" b="1" spc="-1" dirty="0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2299C1B-92BD-5D19-CBE7-D84A0A0AA556}"/>
              </a:ext>
            </a:extLst>
          </p:cNvPr>
          <p:cNvGrpSpPr/>
          <p:nvPr/>
        </p:nvGrpSpPr>
        <p:grpSpPr>
          <a:xfrm>
            <a:off x="472549" y="1417638"/>
            <a:ext cx="3898676" cy="4176463"/>
            <a:chOff x="241276" y="1196752"/>
            <a:chExt cx="3781954" cy="3595735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E6D2F51B-22CC-54E9-A079-CAEEBD689F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1277" y="1196752"/>
              <a:ext cx="3781953" cy="2124371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F4B6B1D-A8BF-6116-B615-1DCC22BCA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1276" y="3321122"/>
              <a:ext cx="3781953" cy="1471365"/>
            </a:xfrm>
            <a:prstGeom prst="rect">
              <a:avLst/>
            </a:prstGeom>
          </p:spPr>
        </p:pic>
      </p:grpSp>
      <p:pic>
        <p:nvPicPr>
          <p:cNvPr id="9" name="그림 8">
            <a:extLst>
              <a:ext uri="{FF2B5EF4-FFF2-40B4-BE49-F238E27FC236}">
                <a16:creationId xmlns:a16="http://schemas.microsoft.com/office/drawing/2014/main" id="{573474A5-F169-C073-6D86-59D6D7C5F6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4973" y="1417638"/>
            <a:ext cx="4153076" cy="1609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328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EAB8A374-D4A6-0469-A5AC-830ABCC51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78" y="2708920"/>
            <a:ext cx="4001058" cy="119079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57CE4E44-EA36-A6C2-D944-EBE45122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43FE33-DDAD-7150-79B1-506A70C1972A}"/>
              </a:ext>
            </a:extLst>
          </p:cNvPr>
          <p:cNvSpPr txBox="1"/>
          <p:nvPr/>
        </p:nvSpPr>
        <p:spPr>
          <a:xfrm>
            <a:off x="385597" y="4212975"/>
            <a:ext cx="857889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Dictionary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형태로 저장하여 빠른 조회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Dictionary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의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키 값에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(state, key)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를 저장하였기에 중복 처리도 용이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특정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‘state’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‘key’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로 어떤 동작이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매핑되어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있는지 쉽게 파악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 ‘key’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만으로도 구분 가능하지만 확장성을 대비하여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‘state’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값도 함께 키 값으로 설정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8520FC5-90F2-F5FC-D3AB-11A5F3D8FC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56" y="1052456"/>
            <a:ext cx="7430537" cy="1171739"/>
          </a:xfrm>
          <a:prstGeom prst="rect">
            <a:avLst/>
          </a:prstGeom>
        </p:spPr>
      </p:pic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768D602E-E71E-7456-7857-6B3785DFA621}"/>
              </a:ext>
            </a:extLst>
          </p:cNvPr>
          <p:cNvCxnSpPr>
            <a:cxnSpLocks/>
            <a:stCxn id="10" idx="3"/>
            <a:endCxn id="14" idx="3"/>
          </p:cNvCxnSpPr>
          <p:nvPr/>
        </p:nvCxnSpPr>
        <p:spPr>
          <a:xfrm flipH="1">
            <a:off x="4104711" y="1638326"/>
            <a:ext cx="3908382" cy="2116699"/>
          </a:xfrm>
          <a:prstGeom prst="bentConnector3">
            <a:avLst>
              <a:gd name="adj1" fmla="val -5849"/>
            </a:avLst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E8889-1E12-572F-4C5F-64137907C7D2}"/>
              </a:ext>
            </a:extLst>
          </p:cNvPr>
          <p:cNvSpPr/>
          <p:nvPr/>
        </p:nvSpPr>
        <p:spPr>
          <a:xfrm>
            <a:off x="3240615" y="3658129"/>
            <a:ext cx="864096" cy="19379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ln>
                <a:solidFill>
                  <a:srgbClr val="FF0000"/>
                </a:solidFill>
              </a:ln>
              <a:noFill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733D49D-B409-A9AB-9237-B3D2488EBDA1}"/>
              </a:ext>
            </a:extLst>
          </p:cNvPr>
          <p:cNvSpPr/>
          <p:nvPr/>
        </p:nvSpPr>
        <p:spPr>
          <a:xfrm>
            <a:off x="1272334" y="1475173"/>
            <a:ext cx="3212366" cy="3577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FB0516D-B043-963D-00A8-399C7C39C5AB}"/>
              </a:ext>
            </a:extLst>
          </p:cNvPr>
          <p:cNvSpPr/>
          <p:nvPr/>
        </p:nvSpPr>
        <p:spPr>
          <a:xfrm>
            <a:off x="1272334" y="1832874"/>
            <a:ext cx="3212367" cy="39132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86969-8414-79F7-7376-194E325345F0}"/>
              </a:ext>
            </a:extLst>
          </p:cNvPr>
          <p:cNvSpPr txBox="1"/>
          <p:nvPr/>
        </p:nvSpPr>
        <p:spPr>
          <a:xfrm>
            <a:off x="4922101" y="2444883"/>
            <a:ext cx="3183667" cy="7848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키 입력 시 상태 및 함수 처리</a:t>
            </a: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AutoNum type="arabicPeriod"/>
            </a:pPr>
            <a:r>
              <a:rPr lang="ko-KR" altLang="en-US" sz="15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함수처리 후 충돌 시 대안</a:t>
            </a:r>
            <a:endParaRPr lang="en-US" altLang="ko-KR" sz="15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C87F82F7-E36B-3781-1CF4-48AD09583DE3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4484700" y="1832874"/>
            <a:ext cx="2029235" cy="612009"/>
          </a:xfrm>
          <a:prstGeom prst="bentConnector2">
            <a:avLst/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그림 36">
            <a:extLst>
              <a:ext uri="{FF2B5EF4-FFF2-40B4-BE49-F238E27FC236}">
                <a16:creationId xmlns:a16="http://schemas.microsoft.com/office/drawing/2014/main" id="{EAA7CA24-2AA5-E030-3C03-367EBFF7CD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65" y="5667739"/>
            <a:ext cx="4477375" cy="562053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1112138B-EED1-4A2E-B629-384B57C408E3}"/>
              </a:ext>
            </a:extLst>
          </p:cNvPr>
          <p:cNvSpPr txBox="1"/>
          <p:nvPr/>
        </p:nvSpPr>
        <p:spPr>
          <a:xfrm>
            <a:off x="385598" y="6258798"/>
            <a:ext cx="561127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   </a:t>
            </a:r>
            <a:r>
              <a:rPr lang="ko-KR" altLang="en-US" sz="1500" dirty="0"/>
              <a:t>위와 같이 새로운 상태와 키 값을 입력해주면 됨</a:t>
            </a:r>
            <a:endParaRPr lang="en-US" altLang="ko-KR" sz="1500" dirty="0"/>
          </a:p>
        </p:txBody>
      </p:sp>
      <p:sp>
        <p:nvSpPr>
          <p:cNvPr id="3" name="타원 2">
            <a:extLst>
              <a:ext uri="{FF2B5EF4-FFF2-40B4-BE49-F238E27FC236}">
                <a16:creationId xmlns:a16="http://schemas.microsoft.com/office/drawing/2014/main" id="{B3BAF41E-2A60-6B55-5D39-59E95C8FCBCE}"/>
              </a:ext>
            </a:extLst>
          </p:cNvPr>
          <p:cNvSpPr/>
          <p:nvPr/>
        </p:nvSpPr>
        <p:spPr>
          <a:xfrm>
            <a:off x="1150312" y="1564765"/>
            <a:ext cx="171850" cy="15093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1</a:t>
            </a:r>
            <a:endParaRPr lang="ko-KR" altLang="en-US" sz="1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타원 3">
            <a:extLst>
              <a:ext uri="{FF2B5EF4-FFF2-40B4-BE49-F238E27FC236}">
                <a16:creationId xmlns:a16="http://schemas.microsoft.com/office/drawing/2014/main" id="{633A994D-59C7-F3EA-810E-9FDB4118E05D}"/>
              </a:ext>
            </a:extLst>
          </p:cNvPr>
          <p:cNvSpPr/>
          <p:nvPr/>
        </p:nvSpPr>
        <p:spPr>
          <a:xfrm>
            <a:off x="1150313" y="1945972"/>
            <a:ext cx="171850" cy="150939"/>
          </a:xfrm>
          <a:prstGeom prst="ellipse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  <a:latin typeface="Calibri" pitchFamily="34" charset="0"/>
                <a:cs typeface="Calibri" pitchFamily="34" charset="0"/>
              </a:rPr>
              <a:t>2</a:t>
            </a:r>
            <a:endParaRPr lang="ko-KR" altLang="en-US" sz="10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2670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6F1FB-1C76-159F-2949-16E0A459F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B0A980-0897-E11A-710E-FB2235AC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73FB226E-88E0-8304-BA5C-5387FD42B5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89" y="1270383"/>
            <a:ext cx="7457103" cy="936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821C77-2806-8903-1C3C-6FB24DA93E98}"/>
              </a:ext>
            </a:extLst>
          </p:cNvPr>
          <p:cNvSpPr txBox="1"/>
          <p:nvPr/>
        </p:nvSpPr>
        <p:spPr>
          <a:xfrm>
            <a:off x="286405" y="2418315"/>
            <a:ext cx="8784977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</a:t>
            </a:r>
            <a:r>
              <a:rPr lang="en-US" altLang="ko-KR" b="1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set_operate</a:t>
            </a:r>
            <a:r>
              <a:rPr lang="ko-KR" altLang="en-US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동작 설명</a:t>
            </a:r>
            <a:r>
              <a:rPr lang="en-US" altLang="ko-KR" b="1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&gt;</a:t>
            </a:r>
          </a:p>
          <a:p>
            <a:r>
              <a:rPr lang="en-US" altLang="ko-KR" b="1" spc="-1" dirty="0">
                <a:solidFill>
                  <a:srgbClr val="000000"/>
                </a:solidFill>
                <a:latin typeface="Calibri"/>
              </a:rPr>
              <a:t>1.</a:t>
            </a:r>
            <a:r>
              <a:rPr lang="ko-KR" altLang="en-US" b="1" spc="-1" dirty="0">
                <a:solidFill>
                  <a:srgbClr val="000000"/>
                </a:solidFill>
                <a:latin typeface="Calibri"/>
              </a:rPr>
              <a:t>들어가는 인자 </a:t>
            </a:r>
            <a:r>
              <a:rPr lang="en-US" altLang="ko-KR" b="1" spc="-1" dirty="0">
                <a:solidFill>
                  <a:srgbClr val="000000"/>
                </a:solidFill>
                <a:latin typeface="Calibri"/>
              </a:rPr>
              <a:t>3</a:t>
            </a:r>
            <a:r>
              <a:rPr lang="ko-KR" altLang="en-US" b="1" spc="-1" dirty="0">
                <a:solidFill>
                  <a:srgbClr val="000000"/>
                </a:solidFill>
                <a:latin typeface="Calibri"/>
              </a:rPr>
              <a:t>개</a:t>
            </a: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〮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TetrisState.Running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: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현재 상태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〮 ‘a’   :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눌러지는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key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값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	</a:t>
            </a: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〮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TetrisOperation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객체 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:  key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입력 시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핸들러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처리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,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충돌 시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핸들러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처리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(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인자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4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개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      -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OnLeft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: 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실행되는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핸들러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객체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        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TetrisState.Running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: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핸들러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실행 후 작동상태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      -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OnRight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: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충돌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방생시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실행되는 복구 </a:t>
            </a:r>
            <a:r>
              <a:rPr lang="ko-KR" altLang="en-US" spc="-1" dirty="0" err="1">
                <a:solidFill>
                  <a:srgbClr val="000000"/>
                </a:solidFill>
                <a:latin typeface="Calibri"/>
              </a:rPr>
              <a:t>핸들러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객체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         - 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</a:rPr>
              <a:t>TetrisState.Running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: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충돌 발생 복구 후 작동상태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53BD616-A03A-0026-536D-5D75A749CB0A}"/>
              </a:ext>
            </a:extLst>
          </p:cNvPr>
          <p:cNvSpPr/>
          <p:nvPr/>
        </p:nvSpPr>
        <p:spPr>
          <a:xfrm>
            <a:off x="480323" y="2987237"/>
            <a:ext cx="3384376" cy="615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816A1F6-C1A5-2DB1-1417-4390890E1974}"/>
              </a:ext>
            </a:extLst>
          </p:cNvPr>
          <p:cNvSpPr/>
          <p:nvPr/>
        </p:nvSpPr>
        <p:spPr>
          <a:xfrm>
            <a:off x="825553" y="4620635"/>
            <a:ext cx="4776872" cy="615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47EE3955-931F-AAD9-9D15-39190A34582A}"/>
              </a:ext>
            </a:extLst>
          </p:cNvPr>
          <p:cNvSpPr/>
          <p:nvPr/>
        </p:nvSpPr>
        <p:spPr>
          <a:xfrm>
            <a:off x="825553" y="5989647"/>
            <a:ext cx="5136912" cy="615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D2E3431-A841-2146-32F8-56B13C1793A0}"/>
              </a:ext>
            </a:extLst>
          </p:cNvPr>
          <p:cNvCxnSpPr>
            <a:cxnSpLocks/>
            <a:stCxn id="9" idx="3"/>
            <a:endCxn id="10" idx="3"/>
          </p:cNvCxnSpPr>
          <p:nvPr/>
        </p:nvCxnSpPr>
        <p:spPr>
          <a:xfrm>
            <a:off x="3864699" y="3294944"/>
            <a:ext cx="1737726" cy="1633398"/>
          </a:xfrm>
          <a:prstGeom prst="bentConnector3">
            <a:avLst>
              <a:gd name="adj1" fmla="val 113155"/>
            </a:avLst>
          </a:prstGeom>
          <a:ln w="19050">
            <a:solidFill>
              <a:srgbClr val="FF0000"/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화살표: 아래쪽 23">
            <a:extLst>
              <a:ext uri="{FF2B5EF4-FFF2-40B4-BE49-F238E27FC236}">
                <a16:creationId xmlns:a16="http://schemas.microsoft.com/office/drawing/2014/main" id="{60E91406-0D7C-9828-D5A5-B78A679C5FFC}"/>
              </a:ext>
            </a:extLst>
          </p:cNvPr>
          <p:cNvSpPr/>
          <p:nvPr/>
        </p:nvSpPr>
        <p:spPr>
          <a:xfrm>
            <a:off x="2483768" y="5285984"/>
            <a:ext cx="360040" cy="576064"/>
          </a:xfrm>
          <a:prstGeom prst="downArrow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FB6C43D-6276-7305-2DE0-F4D6F8003A27}"/>
              </a:ext>
            </a:extLst>
          </p:cNvPr>
          <p:cNvSpPr txBox="1"/>
          <p:nvPr/>
        </p:nvSpPr>
        <p:spPr>
          <a:xfrm>
            <a:off x="2843808" y="5277342"/>
            <a:ext cx="4032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500" dirty="0"/>
              <a:t>충돌 발생시</a:t>
            </a:r>
            <a:endParaRPr lang="en-US" altLang="ko-KR" sz="1500" dirty="0"/>
          </a:p>
          <a:p>
            <a:r>
              <a:rPr lang="ko-KR" altLang="en-US" sz="1500" dirty="0"/>
              <a:t>아래 인자 실행 </a:t>
            </a:r>
          </a:p>
        </p:txBody>
      </p:sp>
    </p:spTree>
    <p:extLst>
      <p:ext uri="{BB962C8B-B14F-4D97-AF65-F5344CB8AC3E}">
        <p14:creationId xmlns:p14="http://schemas.microsoft.com/office/powerpoint/2010/main" val="2218867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2CCE8-A97A-67EC-F660-2045A821F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5B9217-74A4-8355-BD24-457A7300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640"/>
            <a:ext cx="8229600" cy="1143000"/>
          </a:xfrm>
        </p:spPr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 정의 </a:t>
            </a:r>
            <a:endParaRPr kumimoji="1" lang="ko-Kore-KR" altLang="en-US" dirty="0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AF71DCE7-6B74-0842-5BB2-3D2BDF233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80" y="1480570"/>
            <a:ext cx="3384376" cy="42484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E1EA46D-A349-786C-2B44-DFDF71CC59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490" y="1480570"/>
            <a:ext cx="5075006" cy="43967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5CC14F-7D8E-E29A-3101-7A612B5A8B0C}"/>
              </a:ext>
            </a:extLst>
          </p:cNvPr>
          <p:cNvSpPr txBox="1"/>
          <p:nvPr/>
        </p:nvSpPr>
        <p:spPr>
          <a:xfrm>
            <a:off x="107504" y="2492896"/>
            <a:ext cx="34563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&lt;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매번 필요한 필수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‘key’&gt;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</a:rPr>
              <a:t> </a:t>
            </a:r>
            <a:br>
              <a:rPr lang="en-US" altLang="ko-KR" spc="-1" dirty="0">
                <a:solidFill>
                  <a:srgbClr val="000000"/>
                </a:solidFill>
                <a:latin typeface="Calibri"/>
              </a:rPr>
            </a:b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500" b="1" spc="-1" dirty="0" err="1">
                <a:solidFill>
                  <a:srgbClr val="000000"/>
                </a:solidFill>
                <a:latin typeface="Calibri"/>
              </a:rPr>
              <a:t>필수키</a:t>
            </a:r>
            <a:r>
              <a:rPr lang="ko-KR" altLang="en-US" sz="1500" b="1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altLang="ko-KR" sz="1500" b="1" spc="-1" dirty="0">
                <a:solidFill>
                  <a:srgbClr val="000000"/>
                </a:solidFill>
                <a:latin typeface="Calibri"/>
              </a:rPr>
              <a:t>[‘a’, ’d’, ‘w’, ‘q’, ‘ ’,  ‘0123456’]</a:t>
            </a: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-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위와 같은 필수키는 모든 </a:t>
            </a:r>
            <a:r>
              <a:rPr lang="ko-KR" altLang="en-US" sz="1500" spc="-1" dirty="0" err="1">
                <a:solidFill>
                  <a:srgbClr val="000000"/>
                </a:solidFill>
                <a:latin typeface="Calibri"/>
              </a:rPr>
              <a:t>테트리스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     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     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필수적으로 사용됨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FF0000"/>
                </a:solidFill>
                <a:latin typeface="Calibri"/>
              </a:rPr>
              <a:t>새로운 객체 생성이 용이하도록 설정</a:t>
            </a:r>
            <a:endParaRPr lang="en-US" altLang="ko-KR" sz="1500" spc="-1" dirty="0">
              <a:solidFill>
                <a:srgbClr val="FF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새로운 기능의  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key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추가 시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 err="1">
                <a:solidFill>
                  <a:srgbClr val="000000"/>
                </a:solidFill>
                <a:latin typeface="Calibri"/>
              </a:rPr>
              <a:t>set_operate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함수를 활용하여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수동 추가 가능</a:t>
            </a:r>
            <a:endParaRPr lang="en-US" altLang="ko-KR" sz="1500" spc="-1" dirty="0">
              <a:solidFill>
                <a:srgbClr val="000000"/>
              </a:solidFill>
              <a:latin typeface="Calibri"/>
            </a:endParaRPr>
          </a:p>
          <a:p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(CTETRIS</a:t>
            </a:r>
            <a:r>
              <a:rPr lang="ko-KR" altLang="en-US" sz="1500" spc="-1" dirty="0">
                <a:solidFill>
                  <a:srgbClr val="000000"/>
                </a:solidFill>
                <a:latin typeface="Calibri"/>
              </a:rPr>
              <a:t>에서 활용</a:t>
            </a:r>
            <a:r>
              <a:rPr lang="en-US" altLang="ko-KR" sz="1500" spc="-1" dirty="0">
                <a:solidFill>
                  <a:srgbClr val="000000"/>
                </a:solidFill>
                <a:latin typeface="Calibri"/>
              </a:rPr>
              <a:t>)</a:t>
            </a:r>
          </a:p>
        </p:txBody>
      </p:sp>
      <p:sp>
        <p:nvSpPr>
          <p:cNvPr id="3" name="왼쪽 중괄호 2">
            <a:extLst>
              <a:ext uri="{FF2B5EF4-FFF2-40B4-BE49-F238E27FC236}">
                <a16:creationId xmlns:a16="http://schemas.microsoft.com/office/drawing/2014/main" id="{892A4636-4F32-2403-5753-58325500E133}"/>
              </a:ext>
            </a:extLst>
          </p:cNvPr>
          <p:cNvSpPr/>
          <p:nvPr/>
        </p:nvSpPr>
        <p:spPr>
          <a:xfrm>
            <a:off x="3530216" y="1533806"/>
            <a:ext cx="291923" cy="4301189"/>
          </a:xfrm>
          <a:prstGeom prst="leftBrace">
            <a:avLst>
              <a:gd name="adj1" fmla="val 8333"/>
              <a:gd name="adj2" fmla="val 4351"/>
            </a:avLst>
          </a:prstGeom>
          <a:ln w="19050">
            <a:solidFill>
              <a:srgbClr val="0D0D0D"/>
            </a:solidFill>
            <a:prstDash val="solid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7062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DC9C4-40D3-3DB2-255E-26CCFEE54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B6366-D510-6CE8-AC4D-7B7B8BB07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동작에 따른 </a:t>
            </a:r>
            <a:r>
              <a:rPr lang="en-US" altLang="ko-KR" dirty="0"/>
              <a:t>accept</a:t>
            </a:r>
            <a:endParaRPr kumimoji="1" lang="ko-Kore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D02E63-FDAD-11C0-5B61-C68E25369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84784"/>
            <a:ext cx="5544616" cy="35304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B439BB-3325-B204-EDC9-C7BC31245FD1}"/>
              </a:ext>
            </a:extLst>
          </p:cNvPr>
          <p:cNvSpPr txBox="1"/>
          <p:nvPr/>
        </p:nvSpPr>
        <p:spPr>
          <a:xfrm>
            <a:off x="457200" y="5445224"/>
            <a:ext cx="7585623" cy="6976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미리 등록된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HANDLER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에서 모든 동작 처리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-&gt;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매우 간단해진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accept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기능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복잡한 분기 및 추가 로직 생략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3510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5613-2C84-A449-6B4D-558878F808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F64585-826D-CF4F-5E61-82024A1E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Implementation – </a:t>
            </a:r>
            <a:r>
              <a:rPr kumimoji="1" lang="en-US" altLang="en-US" dirty="0" err="1"/>
              <a:t>Ctetris</a:t>
            </a:r>
            <a:r>
              <a:rPr kumimoji="1" lang="en-US" altLang="en-US" dirty="0"/>
              <a:t> </a:t>
            </a:r>
            <a:r>
              <a:rPr kumimoji="1" lang="ko-KR" altLang="en-US" dirty="0"/>
              <a:t>상속</a:t>
            </a:r>
            <a:endParaRPr kumimoji="1" lang="ko-Kore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AF0A20-BCB1-E181-CD48-399E570CF93A}"/>
              </a:ext>
            </a:extLst>
          </p:cNvPr>
          <p:cNvSpPr txBox="1"/>
          <p:nvPr/>
        </p:nvSpPr>
        <p:spPr>
          <a:xfrm>
            <a:off x="179512" y="5335468"/>
            <a:ext cx="7585623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pc="-1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Ctetris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작성 전 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method </a:t>
            </a:r>
            <a:r>
              <a:rPr lang="ko-KR" altLang="en-US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접근 수준 변경</a:t>
            </a:r>
            <a:r>
              <a:rPr lang="en-US" altLang="ko-KR" spc="-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600" b="0" spc="-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Tetris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를 상속해주기 전에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public, private, protected method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모두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구분 완료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코드의 안전성을 위해 </a:t>
            </a: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-&gt;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상속 시 잘못된 접근 방지 가능</a:t>
            </a:r>
            <a:endParaRPr lang="en-US" altLang="ko-KR" sz="1600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z="1600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z="1600" spc="-1" dirty="0">
                <a:solidFill>
                  <a:srgbClr val="000000"/>
                </a:solidFill>
                <a:latin typeface="Calibri"/>
              </a:rPr>
              <a:t>코드의 명확한 의도 및 의미 전달</a:t>
            </a:r>
            <a:endParaRPr lang="en-US" altLang="ko-KR" sz="1800" b="0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D35D65F-1269-51F6-4CBA-7280EE23D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0057" y="1327581"/>
            <a:ext cx="4701839" cy="131473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17BF616-BAEE-4A38-F61B-20F2C391FD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729" y="1327581"/>
            <a:ext cx="3820423" cy="136789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E6C6981-8EE5-D8D6-43F3-6ACCDD41A4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0056" y="3067193"/>
            <a:ext cx="4252383" cy="137866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888ECCA-9F16-65A9-CB1D-B688BBD7FF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29" y="2802775"/>
            <a:ext cx="3820422" cy="225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462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06E71-1E98-6B8D-EDE0-C1EB42C56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866784-761E-D84B-B806-BEE9950F7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3. Implementation – </a:t>
            </a:r>
            <a:r>
              <a:rPr kumimoji="1" lang="en-US" altLang="en-US" dirty="0" err="1"/>
              <a:t>CTetris</a:t>
            </a:r>
            <a:endParaRPr kumimoji="1" lang="ko-Kore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0229608-828F-C674-BC66-986E33F4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99" y="1196752"/>
            <a:ext cx="8792802" cy="14480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5BEA8FF-5FB4-9A63-4B1B-635908CF3EED}"/>
              </a:ext>
            </a:extLst>
          </p:cNvPr>
          <p:cNvSpPr txBox="1"/>
          <p:nvPr/>
        </p:nvSpPr>
        <p:spPr>
          <a:xfrm>
            <a:off x="323528" y="2794863"/>
            <a:ext cx="7488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&lt;</a:t>
            </a:r>
            <a:r>
              <a:rPr lang="en-US" altLang="ko-KR" spc="-1" dirty="0" err="1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Ctetris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작성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&gt;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Tetris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상속받은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class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작성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accept method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재정의 없이 작성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(pdf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요구사항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)</a:t>
            </a: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 후 같은 함수명에 기능 추가도 위와 같이 완료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D138031-9F7D-124F-9279-8F210D19A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497" y="4677794"/>
            <a:ext cx="3705742" cy="69542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3849E21-A4EA-8FE2-E743-21E4B693B2F0}"/>
              </a:ext>
            </a:extLst>
          </p:cNvPr>
          <p:cNvSpPr txBox="1"/>
          <p:nvPr/>
        </p:nvSpPr>
        <p:spPr>
          <a:xfrm>
            <a:off x="345840" y="5427414"/>
            <a:ext cx="799288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plug in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방식으로 구현되어 있어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,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위와 같은 새 기능 추가에 용이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PDF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요구사항을 반영하여 플러그인 코드 방식은 그대로 유지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 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22226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13317-CDD3-AF82-4D78-704BAFCC8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3019F9-911A-0051-50CD-3DB4B8E7F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en-US" dirty="0"/>
              <a:t>2. Implementation – v2 </a:t>
            </a:r>
            <a:r>
              <a:rPr lang="en-US" altLang="ko-KR" dirty="0"/>
              <a:t>Tetris key</a:t>
            </a:r>
            <a:r>
              <a:rPr lang="ko-KR" altLang="en-US" dirty="0"/>
              <a:t>별 동작에 따른 </a:t>
            </a:r>
            <a:r>
              <a:rPr lang="en-US" altLang="ko-KR" dirty="0"/>
              <a:t>main</a:t>
            </a:r>
            <a:r>
              <a:rPr lang="ko-KR" altLang="en-US" dirty="0"/>
              <a:t> </a:t>
            </a:r>
            <a:endParaRPr kumimoji="1" lang="ko-Kore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9772E34-E21B-15D0-24B0-A1F880F20C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5" y="1556792"/>
            <a:ext cx="9043789" cy="20113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8C78E7-C440-A961-12E8-B80B88153B4C}"/>
              </a:ext>
            </a:extLst>
          </p:cNvPr>
          <p:cNvSpPr txBox="1"/>
          <p:nvPr/>
        </p:nvSpPr>
        <p:spPr>
          <a:xfrm>
            <a:off x="475307" y="4437112"/>
            <a:ext cx="7488832" cy="13542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&lt;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상속 받은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CTETRIS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기반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  <a:ea typeface="맑은 고딕" panose="020B0503020000020004" pitchFamily="50" charset="-127"/>
              </a:rPr>
              <a:t>MAIN&gt;</a:t>
            </a:r>
            <a:endParaRPr lang="en-US" altLang="ko-KR" sz="1800" b="0" spc="-1" dirty="0">
              <a:solidFill>
                <a:srgbClr val="000000"/>
              </a:solidFill>
              <a:latin typeface="Calibri"/>
              <a:ea typeface="맑은 고딕" panose="020B0503020000020004" pitchFamily="50" charset="-127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‘X’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를 눌렀을 때도 잘 작동함을 확인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〮 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상속 받았기에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TETRIS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에 있는 모든 </a:t>
            </a: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METHOD</a:t>
            </a:r>
            <a:r>
              <a:rPr lang="ko-KR" altLang="en-US" spc="-1" dirty="0">
                <a:solidFill>
                  <a:srgbClr val="000000"/>
                </a:solidFill>
                <a:latin typeface="Calibri"/>
              </a:rPr>
              <a:t>도 활용 가능</a:t>
            </a:r>
            <a:endParaRPr lang="en-US" altLang="ko-KR" spc="-1" dirty="0">
              <a:solidFill>
                <a:srgbClr val="000000"/>
              </a:solidFill>
              <a:latin typeface="Calibri"/>
            </a:endParaRPr>
          </a:p>
          <a:p>
            <a:pPr>
              <a:spcBef>
                <a:spcPts val="360"/>
              </a:spcBef>
            </a:pPr>
            <a:r>
              <a:rPr lang="en-US" altLang="ko-KR" spc="-1" dirty="0">
                <a:solidFill>
                  <a:srgbClr val="000000"/>
                </a:solidFill>
                <a:latin typeface="Calibri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5273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B317-83B7-4971-80D5-D7FE424AC18D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1027" name="Picture 3" descr="C:\Users\Kilho Lee\Dropbox\Research documents\Lab_misc\연구실로고\MISYS 세로-컬러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6176" y="2276872"/>
            <a:ext cx="2195944" cy="1763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6548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28575"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400" dirty="0" smtClean="0">
            <a:solidFill>
              <a:schemeClr val="tx1"/>
            </a:solidFill>
            <a:latin typeface="Calibri" pitchFamily="34" charset="0"/>
            <a:cs typeface="Calibri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rgbClr val="0D0D0D"/>
          </a:solidFill>
          <a:prstDash val="solid"/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2223</TotalTime>
  <Words>620</Words>
  <Application>Microsoft Office PowerPoint</Application>
  <PresentationFormat>화면 슬라이드 쇼(4:3)</PresentationFormat>
  <Paragraphs>99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맑은 고딕</vt:lpstr>
      <vt:lpstr>Arial</vt:lpstr>
      <vt:lpstr>Calibri</vt:lpstr>
      <vt:lpstr>Office 테마</vt:lpstr>
      <vt:lpstr>TETRIS (Python) P#3 Progress Report 2025.07.16</vt:lpstr>
      <vt:lpstr>Outline</vt:lpstr>
      <vt:lpstr>1. Implementation – V1(8개의 handler)</vt:lpstr>
      <vt:lpstr>1. Implementation – V1(8개의 handler)</vt:lpstr>
      <vt:lpstr>2. Implementation – v2 Tetris key별 동작 정의 </vt:lpstr>
      <vt:lpstr>2. Implementation – v2 Tetris key별 동작 정의 </vt:lpstr>
      <vt:lpstr>2. Implementation – v2 Tetris key별 동작 정의 </vt:lpstr>
      <vt:lpstr>2. Implementation – v2 Tetris key별 동작에 따른 accept</vt:lpstr>
      <vt:lpstr>3. Implementation – Ctetris 상속</vt:lpstr>
      <vt:lpstr>3. Implementation – CTetris</vt:lpstr>
      <vt:lpstr>2. Implementation – v2 Tetris key별 동작에 따른 main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</dc:creator>
  <cp:lastModifiedBy>김찬형</cp:lastModifiedBy>
  <cp:revision>18</cp:revision>
  <dcterms:created xsi:type="dcterms:W3CDTF">2022-07-04T05:58:26Z</dcterms:created>
  <dcterms:modified xsi:type="dcterms:W3CDTF">2025-07-15T10:12:38Z</dcterms:modified>
</cp:coreProperties>
</file>